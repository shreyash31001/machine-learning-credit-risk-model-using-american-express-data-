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Glacial Indifference Bold" charset="1" panose="00000800000000000000"/>
      <p:regular r:id="rId34"/>
    </p:embeddedFont>
    <p:embeddedFont>
      <p:font typeface="Glacial Indifference" charset="1" panose="00000000000000000000"/>
      <p:regular r:id="rId35"/>
    </p:embeddedFont>
    <p:embeddedFont>
      <p:font typeface="Open Sauce Light" charset="1" panose="00000400000000000000"/>
      <p:regular r:id="rId36"/>
    </p:embeddedFont>
    <p:embeddedFont>
      <p:font typeface="Open Sauce" charset="1" panose="00000500000000000000"/>
      <p:regular r:id="rId37"/>
    </p:embeddedFont>
    <p:embeddedFont>
      <p:font typeface="Open Sauce Bold" charset="1" panose="00000800000000000000"/>
      <p:regular r:id="rId41"/>
    </p:embeddedFont>
    <p:embeddedFont>
      <p:font typeface="Arimo Bold" charset="1" panose="020B0704020202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notesSlides/notesSlide2.xml" Type="http://schemas.openxmlformats.org/officeDocument/2006/relationships/notesSlide"/><Relationship Id="rId44" Target="notesSlides/notesSlide3.xml" Type="http://schemas.openxmlformats.org/officeDocument/2006/relationships/notesSlide"/><Relationship Id="rId45" Target="notesSlides/notesSlide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our SHAP analysis, these are the top 5 most influential features in predicting credit default. They capture important trends in payment behavior, balance patterns, and risk attributes over the past 6 months. These engineered features provide valuable insights into customer creditworthiness.”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rank ordering plot shows that the predicted scores successfully separate customers by risk across all datasets. As we move from lower to higher predicted score bins, the actual default rates consistently increase. The Train, Test1, and Test2 samples show similar patterns, indicating the model generalizes well and avoids overfitting. This rank ordering supports the effectiveness of the model for risk prediction.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rank ordering plot shows that the predicted scores successfully separate customers by risk across all datasets. As we move from lower to higher predicted score bins, the actual default rates consistently increase. The Train, Test1, and Test2 samples show similar patterns, indicating the model generalizes well and avoids overfitting. This rank ordering supports the effectiveness of the model for risk prediction.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rank ordering plot shows that the predicted scores successfully separate customers by risk across all datasets. As we move from lower to higher predicted score bins, the actual default rates consistently increase. The Train, Test1, and Test2 samples show similar patterns, indicating the model generalizes well and avoids overfitting. This rank ordering supports the effectiveness of the model for risk prediction.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4.png" Type="http://schemas.openxmlformats.org/officeDocument/2006/relationships/image"/><Relationship Id="rId4"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7.png" Type="http://schemas.openxmlformats.org/officeDocument/2006/relationships/image"/><Relationship Id="rId4"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EDE4"/>
        </a:solidFill>
      </p:bgPr>
    </p:bg>
    <p:spTree>
      <p:nvGrpSpPr>
        <p:cNvPr id="1" name=""/>
        <p:cNvGrpSpPr/>
        <p:nvPr/>
      </p:nvGrpSpPr>
      <p:grpSpPr>
        <a:xfrm>
          <a:off x="0" y="0"/>
          <a:ext cx="0" cy="0"/>
          <a:chOff x="0" y="0"/>
          <a:chExt cx="0" cy="0"/>
        </a:xfrm>
      </p:grpSpPr>
      <p:sp>
        <p:nvSpPr>
          <p:cNvPr name="TextBox 2" id="2"/>
          <p:cNvSpPr txBox="true"/>
          <p:nvPr/>
        </p:nvSpPr>
        <p:spPr>
          <a:xfrm rot="0">
            <a:off x="3731545" y="1114425"/>
            <a:ext cx="10824910" cy="1338579"/>
          </a:xfrm>
          <a:prstGeom prst="rect">
            <a:avLst/>
          </a:prstGeom>
        </p:spPr>
        <p:txBody>
          <a:bodyPr anchor="t" rtlCol="false" tIns="0" lIns="0" bIns="0" rIns="0">
            <a:spAutoFit/>
          </a:bodyPr>
          <a:lstStyle/>
          <a:p>
            <a:pPr algn="l">
              <a:lnSpc>
                <a:spcPts val="10339"/>
              </a:lnSpc>
            </a:pPr>
            <a:r>
              <a:rPr lang="en-US" sz="9399" b="true">
                <a:solidFill>
                  <a:srgbClr val="000000"/>
                </a:solidFill>
                <a:latin typeface="Glacial Indifference Bold"/>
                <a:ea typeface="Glacial Indifference Bold"/>
                <a:cs typeface="Glacial Indifference Bold"/>
                <a:sym typeface="Glacial Indifference Bold"/>
              </a:rPr>
              <a:t>Credit Risk Project</a:t>
            </a:r>
          </a:p>
        </p:txBody>
      </p:sp>
      <p:sp>
        <p:nvSpPr>
          <p:cNvPr name="Freeform 3" id="3"/>
          <p:cNvSpPr/>
          <p:nvPr/>
        </p:nvSpPr>
        <p:spPr>
          <a:xfrm flipH="false" flipV="false" rot="0">
            <a:off x="12547269" y="3625511"/>
            <a:ext cx="5740731" cy="6591654"/>
          </a:xfrm>
          <a:custGeom>
            <a:avLst/>
            <a:gdLst/>
            <a:ahLst/>
            <a:cxnLst/>
            <a:rect r="r" b="b" t="t" l="l"/>
            <a:pathLst>
              <a:path h="6591654" w="5740731">
                <a:moveTo>
                  <a:pt x="0" y="0"/>
                </a:moveTo>
                <a:lnTo>
                  <a:pt x="5740731" y="0"/>
                </a:lnTo>
                <a:lnTo>
                  <a:pt x="5740731" y="6591653"/>
                </a:lnTo>
                <a:lnTo>
                  <a:pt x="0" y="65916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5400000">
            <a:off x="17290500" y="4836674"/>
            <a:ext cx="32979" cy="324185"/>
          </a:xfrm>
          <a:prstGeom prst="rect">
            <a:avLst/>
          </a:prstGeom>
          <a:solidFill>
            <a:srgbClr val="000000"/>
          </a:solidFill>
        </p:spPr>
      </p:sp>
      <p:sp>
        <p:nvSpPr>
          <p:cNvPr name="TextBox 5" id="5"/>
          <p:cNvSpPr txBox="true"/>
          <p:nvPr/>
        </p:nvSpPr>
        <p:spPr>
          <a:xfrm rot="0">
            <a:off x="383909" y="7932602"/>
            <a:ext cx="2571998" cy="328347"/>
          </a:xfrm>
          <a:prstGeom prst="rect">
            <a:avLst/>
          </a:prstGeom>
        </p:spPr>
        <p:txBody>
          <a:bodyPr anchor="t" rtlCol="false" tIns="0" lIns="0" bIns="0" rIns="0">
            <a:spAutoFit/>
          </a:bodyPr>
          <a:lstStyle/>
          <a:p>
            <a:pPr algn="ctr">
              <a:lnSpc>
                <a:spcPts val="2600"/>
              </a:lnSpc>
            </a:pPr>
          </a:p>
        </p:txBody>
      </p:sp>
      <p:sp>
        <p:nvSpPr>
          <p:cNvPr name="TextBox 6" id="6"/>
          <p:cNvSpPr txBox="true"/>
          <p:nvPr/>
        </p:nvSpPr>
        <p:spPr>
          <a:xfrm rot="0">
            <a:off x="4366344" y="7932602"/>
            <a:ext cx="2571998" cy="328347"/>
          </a:xfrm>
          <a:prstGeom prst="rect">
            <a:avLst/>
          </a:prstGeom>
        </p:spPr>
        <p:txBody>
          <a:bodyPr anchor="t" rtlCol="false" tIns="0" lIns="0" bIns="0" rIns="0">
            <a:spAutoFit/>
          </a:bodyPr>
          <a:lstStyle/>
          <a:p>
            <a:pPr algn="ctr">
              <a:lnSpc>
                <a:spcPts val="2600"/>
              </a:lnSpc>
            </a:pPr>
          </a:p>
        </p:txBody>
      </p:sp>
      <p:sp>
        <p:nvSpPr>
          <p:cNvPr name="TextBox 7" id="7"/>
          <p:cNvSpPr txBox="true"/>
          <p:nvPr/>
        </p:nvSpPr>
        <p:spPr>
          <a:xfrm rot="0">
            <a:off x="8351314" y="7940550"/>
            <a:ext cx="2571998" cy="328347"/>
          </a:xfrm>
          <a:prstGeom prst="rect">
            <a:avLst/>
          </a:prstGeom>
        </p:spPr>
        <p:txBody>
          <a:bodyPr anchor="t" rtlCol="false" tIns="0" lIns="0" bIns="0" rIns="0">
            <a:spAutoFit/>
          </a:bodyPr>
          <a:lstStyle/>
          <a:p>
            <a:pPr algn="ctr">
              <a:lnSpc>
                <a:spcPts val="26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187631" y="3674021"/>
            <a:ext cx="4604065" cy="670751"/>
            <a:chOff x="0" y="0"/>
            <a:chExt cx="6138753" cy="894335"/>
          </a:xfrm>
        </p:grpSpPr>
        <p:grpSp>
          <p:nvGrpSpPr>
            <p:cNvPr name="Group 3" id="3"/>
            <p:cNvGrpSpPr/>
            <p:nvPr/>
          </p:nvGrpSpPr>
          <p:grpSpPr>
            <a:xfrm rot="5400000">
              <a:off x="97682" y="-97682"/>
              <a:ext cx="894335" cy="1089699"/>
              <a:chOff x="0" y="0"/>
              <a:chExt cx="2354580" cy="2868930"/>
            </a:xfrm>
          </p:grpSpPr>
          <p:sp>
            <p:nvSpPr>
              <p:cNvPr name="Freeform 4" id="4"/>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000000"/>
              </a:solidFill>
            </p:spPr>
          </p:sp>
        </p:grpSp>
        <p:grpSp>
          <p:nvGrpSpPr>
            <p:cNvPr name="Group 5" id="5"/>
            <p:cNvGrpSpPr/>
            <p:nvPr/>
          </p:nvGrpSpPr>
          <p:grpSpPr>
            <a:xfrm rot="-5400000">
              <a:off x="5146736" y="-97682"/>
              <a:ext cx="894335" cy="1089699"/>
              <a:chOff x="0" y="0"/>
              <a:chExt cx="2354580" cy="2868930"/>
            </a:xfrm>
          </p:grpSpPr>
          <p:sp>
            <p:nvSpPr>
              <p:cNvPr name="Freeform 6" id="6"/>
              <p:cNvSpPr/>
              <p:nvPr/>
            </p:nvSpPr>
            <p:spPr>
              <a:xfrm flipH="false" flipV="false" rot="0">
                <a:off x="0" y="0"/>
                <a:ext cx="2353310" cy="2868930"/>
              </a:xfrm>
              <a:custGeom>
                <a:avLst/>
                <a:gdLst/>
                <a:ahLst/>
                <a:cxnLst/>
                <a:rect r="r" b="b" t="t" l="l"/>
                <a:pathLst>
                  <a:path h="2868930" w="2353310">
                    <a:moveTo>
                      <a:pt x="784860" y="2801620"/>
                    </a:moveTo>
                    <a:cubicBezTo>
                      <a:pt x="905510" y="2842260"/>
                      <a:pt x="1042670" y="2868930"/>
                      <a:pt x="1177290" y="2868930"/>
                    </a:cubicBezTo>
                    <a:cubicBezTo>
                      <a:pt x="1311910" y="2868930"/>
                      <a:pt x="1441450" y="2846070"/>
                      <a:pt x="1560830" y="2805430"/>
                    </a:cubicBezTo>
                    <a:cubicBezTo>
                      <a:pt x="1563370" y="2804160"/>
                      <a:pt x="1565910" y="2804160"/>
                      <a:pt x="1568450" y="2802890"/>
                    </a:cubicBezTo>
                    <a:cubicBezTo>
                      <a:pt x="2016760" y="2640330"/>
                      <a:pt x="2346960" y="2211070"/>
                      <a:pt x="2353310" y="1709420"/>
                    </a:cubicBezTo>
                    <a:lnTo>
                      <a:pt x="2353310" y="0"/>
                    </a:lnTo>
                    <a:lnTo>
                      <a:pt x="0" y="0"/>
                    </a:lnTo>
                    <a:lnTo>
                      <a:pt x="0" y="1708150"/>
                    </a:lnTo>
                    <a:cubicBezTo>
                      <a:pt x="6350" y="2213610"/>
                      <a:pt x="331470" y="2642870"/>
                      <a:pt x="784860" y="2801620"/>
                    </a:cubicBezTo>
                    <a:close/>
                  </a:path>
                </a:pathLst>
              </a:custGeom>
              <a:solidFill>
                <a:srgbClr val="000000"/>
              </a:solidFill>
            </p:spPr>
          </p:sp>
        </p:grpSp>
        <p:grpSp>
          <p:nvGrpSpPr>
            <p:cNvPr name="Group 7" id="7"/>
            <p:cNvGrpSpPr/>
            <p:nvPr/>
          </p:nvGrpSpPr>
          <p:grpSpPr>
            <a:xfrm rot="0">
              <a:off x="698002" y="0"/>
              <a:ext cx="4895902" cy="894335"/>
              <a:chOff x="0" y="0"/>
              <a:chExt cx="1133005" cy="206966"/>
            </a:xfrm>
          </p:grpSpPr>
          <p:sp>
            <p:nvSpPr>
              <p:cNvPr name="Freeform 8" id="8"/>
              <p:cNvSpPr/>
              <p:nvPr/>
            </p:nvSpPr>
            <p:spPr>
              <a:xfrm flipH="false" flipV="false" rot="0">
                <a:off x="0" y="0"/>
                <a:ext cx="1133005" cy="206966"/>
              </a:xfrm>
              <a:custGeom>
                <a:avLst/>
                <a:gdLst/>
                <a:ahLst/>
                <a:cxnLst/>
                <a:rect r="r" b="b" t="t" l="l"/>
                <a:pathLst>
                  <a:path h="206966" w="1133005">
                    <a:moveTo>
                      <a:pt x="0" y="0"/>
                    </a:moveTo>
                    <a:lnTo>
                      <a:pt x="1133005" y="0"/>
                    </a:lnTo>
                    <a:lnTo>
                      <a:pt x="1133005" y="206966"/>
                    </a:lnTo>
                    <a:lnTo>
                      <a:pt x="0" y="206966"/>
                    </a:lnTo>
                    <a:close/>
                  </a:path>
                </a:pathLst>
              </a:custGeom>
              <a:solidFill>
                <a:srgbClr val="000000"/>
              </a:solidFill>
            </p:spPr>
          </p:sp>
        </p:grpSp>
      </p:grpSp>
      <p:sp>
        <p:nvSpPr>
          <p:cNvPr name="TextBox 9" id="9"/>
          <p:cNvSpPr txBox="true"/>
          <p:nvPr/>
        </p:nvSpPr>
        <p:spPr>
          <a:xfrm rot="0">
            <a:off x="1187631" y="2094913"/>
            <a:ext cx="7146415" cy="1285029"/>
          </a:xfrm>
          <a:prstGeom prst="rect">
            <a:avLst/>
          </a:prstGeom>
        </p:spPr>
        <p:txBody>
          <a:bodyPr anchor="t" rtlCol="false" tIns="0" lIns="0" bIns="0" rIns="0">
            <a:spAutoFit/>
          </a:bodyPr>
          <a:lstStyle/>
          <a:p>
            <a:pPr algn="l">
              <a:lnSpc>
                <a:spcPts val="9900"/>
              </a:lnSpc>
            </a:pPr>
            <a:r>
              <a:rPr lang="en-US" sz="9000">
                <a:solidFill>
                  <a:srgbClr val="000000"/>
                </a:solidFill>
                <a:latin typeface="Glacial Indifference"/>
                <a:ea typeface="Glacial Indifference"/>
                <a:cs typeface="Glacial Indifference"/>
                <a:sym typeface="Glacial Indifference"/>
              </a:rPr>
              <a:t>Backgrou</a:t>
            </a:r>
            <a:r>
              <a:rPr lang="en-US" sz="9000">
                <a:solidFill>
                  <a:srgbClr val="000000"/>
                </a:solidFill>
                <a:latin typeface="Glacial Indifference"/>
                <a:ea typeface="Glacial Indifference"/>
                <a:cs typeface="Glacial Indifference"/>
                <a:sym typeface="Glacial Indifference"/>
              </a:rPr>
              <a:t>nd</a:t>
            </a:r>
          </a:p>
        </p:txBody>
      </p:sp>
      <p:sp>
        <p:nvSpPr>
          <p:cNvPr name="TextBox 10" id="10"/>
          <p:cNvSpPr txBox="true"/>
          <p:nvPr/>
        </p:nvSpPr>
        <p:spPr>
          <a:xfrm rot="0">
            <a:off x="1187631" y="5086350"/>
            <a:ext cx="7821983" cy="2021205"/>
          </a:xfrm>
          <a:prstGeom prst="rect">
            <a:avLst/>
          </a:prstGeom>
        </p:spPr>
        <p:txBody>
          <a:bodyPr anchor="t" rtlCol="false" tIns="0" lIns="0" bIns="0" rIns="0">
            <a:spAutoFit/>
          </a:bodyPr>
          <a:lstStyle/>
          <a:p>
            <a:pPr algn="l">
              <a:lnSpc>
                <a:spcPts val="3299"/>
              </a:lnSpc>
            </a:pPr>
            <a:r>
              <a:rPr lang="en-US" sz="2199" spc="87">
                <a:solidFill>
                  <a:srgbClr val="000000"/>
                </a:solidFill>
                <a:latin typeface="Open Sauce Light"/>
                <a:ea typeface="Open Sauce Light"/>
                <a:cs typeface="Open Sauce Light"/>
                <a:sym typeface="Open Sauce Light"/>
              </a:rPr>
              <a:t>This is a machine learning project to build a credit risk model for predicting customer defaults and designing credit assignment strategies. The project involves data processing, feature engineering, model selection, and strategy development.</a:t>
            </a:r>
          </a:p>
        </p:txBody>
      </p:sp>
      <p:sp>
        <p:nvSpPr>
          <p:cNvPr name="TextBox 11" id="11"/>
          <p:cNvSpPr txBox="true"/>
          <p:nvPr/>
        </p:nvSpPr>
        <p:spPr>
          <a:xfrm rot="0">
            <a:off x="1450460" y="3804505"/>
            <a:ext cx="3932599" cy="381433"/>
          </a:xfrm>
          <a:prstGeom prst="rect">
            <a:avLst/>
          </a:prstGeom>
        </p:spPr>
        <p:txBody>
          <a:bodyPr anchor="t" rtlCol="false" tIns="0" lIns="0" bIns="0" rIns="0">
            <a:spAutoFit/>
          </a:bodyPr>
          <a:lstStyle/>
          <a:p>
            <a:pPr algn="ctr">
              <a:lnSpc>
                <a:spcPts val="3112"/>
              </a:lnSpc>
            </a:pPr>
            <a:r>
              <a:rPr lang="en-US" sz="2394" spc="95">
                <a:solidFill>
                  <a:srgbClr val="FFFFFF"/>
                </a:solidFill>
                <a:latin typeface="Open Sauce Light"/>
                <a:ea typeface="Open Sauce Light"/>
                <a:cs typeface="Open Sauce Light"/>
                <a:sym typeface="Open Sauce Light"/>
              </a:rPr>
              <a:t>Overview of the project</a:t>
            </a:r>
          </a:p>
        </p:txBody>
      </p:sp>
      <p:sp>
        <p:nvSpPr>
          <p:cNvPr name="Freeform 12" id="12"/>
          <p:cNvSpPr/>
          <p:nvPr/>
        </p:nvSpPr>
        <p:spPr>
          <a:xfrm flipH="false" flipV="false" rot="0">
            <a:off x="10166499" y="1762825"/>
            <a:ext cx="6626123" cy="6761350"/>
          </a:xfrm>
          <a:custGeom>
            <a:avLst/>
            <a:gdLst/>
            <a:ahLst/>
            <a:cxnLst/>
            <a:rect r="r" b="b" t="t" l="l"/>
            <a:pathLst>
              <a:path h="6761350" w="6626123">
                <a:moveTo>
                  <a:pt x="0" y="0"/>
                </a:moveTo>
                <a:lnTo>
                  <a:pt x="6626123" y="0"/>
                </a:lnTo>
                <a:lnTo>
                  <a:pt x="6626123" y="6761350"/>
                </a:lnTo>
                <a:lnTo>
                  <a:pt x="0" y="6761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499545" y="535253"/>
            <a:ext cx="493447" cy="493447"/>
            <a:chOff x="0" y="0"/>
            <a:chExt cx="657929" cy="657929"/>
          </a:xfrm>
        </p:grpSpPr>
        <p:grpSp>
          <p:nvGrpSpPr>
            <p:cNvPr name="Group 3" id="3"/>
            <p:cNvGrpSpPr>
              <a:grpSpLocks noChangeAspect="true"/>
            </p:cNvGrpSpPr>
            <p:nvPr/>
          </p:nvGrpSpPr>
          <p:grpSpPr>
            <a:xfrm rot="0">
              <a:off x="0" y="0"/>
              <a:ext cx="657929" cy="657929"/>
              <a:chOff x="0" y="0"/>
              <a:chExt cx="6355080" cy="6355080"/>
            </a:xfrm>
          </p:grpSpPr>
          <p:sp>
            <p:nvSpPr>
              <p:cNvPr name="Freeform 4" id="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0000"/>
              </a:solidFill>
            </p:spPr>
          </p:sp>
        </p:grpSp>
        <p:sp>
          <p:nvSpPr>
            <p:cNvPr name="Freeform 5" id="5"/>
            <p:cNvSpPr/>
            <p:nvPr/>
          </p:nvSpPr>
          <p:spPr>
            <a:xfrm flipH="false" flipV="false" rot="5400000">
              <a:off x="109655" y="109655"/>
              <a:ext cx="438619" cy="438619"/>
            </a:xfrm>
            <a:custGeom>
              <a:avLst/>
              <a:gdLst/>
              <a:ahLst/>
              <a:cxnLst/>
              <a:rect r="r" b="b" t="t" l="l"/>
              <a:pathLst>
                <a:path h="438619" w="438619">
                  <a:moveTo>
                    <a:pt x="0" y="0"/>
                  </a:moveTo>
                  <a:lnTo>
                    <a:pt x="438619" y="0"/>
                  </a:lnTo>
                  <a:lnTo>
                    <a:pt x="438619" y="438619"/>
                  </a:lnTo>
                  <a:lnTo>
                    <a:pt x="0" y="4386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4147121" y="3439962"/>
            <a:ext cx="1423672" cy="1198452"/>
            <a:chOff x="0" y="0"/>
            <a:chExt cx="1898229" cy="1597936"/>
          </a:xfrm>
        </p:grpSpPr>
        <p:sp>
          <p:nvSpPr>
            <p:cNvPr name="Freeform 7" id="7"/>
            <p:cNvSpPr/>
            <p:nvPr/>
          </p:nvSpPr>
          <p:spPr>
            <a:xfrm flipH="false" flipV="false" rot="-5646314">
              <a:off x="295205" y="-9981"/>
              <a:ext cx="1485925" cy="1617899"/>
            </a:xfrm>
            <a:custGeom>
              <a:avLst/>
              <a:gdLst/>
              <a:ahLst/>
              <a:cxnLst/>
              <a:rect r="r" b="b" t="t" l="l"/>
              <a:pathLst>
                <a:path h="1617899" w="1485925">
                  <a:moveTo>
                    <a:pt x="0" y="0"/>
                  </a:moveTo>
                  <a:lnTo>
                    <a:pt x="1485925" y="0"/>
                  </a:lnTo>
                  <a:lnTo>
                    <a:pt x="1485925" y="1617898"/>
                  </a:lnTo>
                  <a:lnTo>
                    <a:pt x="0" y="16178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0" y="69248"/>
              <a:ext cx="1381233" cy="1205440"/>
            </a:xfrm>
            <a:custGeom>
              <a:avLst/>
              <a:gdLst/>
              <a:ahLst/>
              <a:cxnLst/>
              <a:rect r="r" b="b" t="t" l="l"/>
              <a:pathLst>
                <a:path h="1205440" w="1381233">
                  <a:moveTo>
                    <a:pt x="0" y="0"/>
                  </a:moveTo>
                  <a:lnTo>
                    <a:pt x="1381233" y="0"/>
                  </a:lnTo>
                  <a:lnTo>
                    <a:pt x="1381233" y="1205440"/>
                  </a:lnTo>
                  <a:lnTo>
                    <a:pt x="0" y="12054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9" id="9"/>
          <p:cNvGrpSpPr/>
          <p:nvPr/>
        </p:nvGrpSpPr>
        <p:grpSpPr>
          <a:xfrm rot="0">
            <a:off x="13376466" y="3424990"/>
            <a:ext cx="1279385" cy="1213424"/>
            <a:chOff x="0" y="0"/>
            <a:chExt cx="1705846" cy="1617899"/>
          </a:xfrm>
        </p:grpSpPr>
        <p:sp>
          <p:nvSpPr>
            <p:cNvPr name="Freeform 10" id="10"/>
            <p:cNvSpPr/>
            <p:nvPr/>
          </p:nvSpPr>
          <p:spPr>
            <a:xfrm flipH="false" flipV="false" rot="0">
              <a:off x="0" y="0"/>
              <a:ext cx="1485925" cy="1617899"/>
            </a:xfrm>
            <a:custGeom>
              <a:avLst/>
              <a:gdLst/>
              <a:ahLst/>
              <a:cxnLst/>
              <a:rect r="r" b="b" t="t" l="l"/>
              <a:pathLst>
                <a:path h="1617899" w="1485925">
                  <a:moveTo>
                    <a:pt x="0" y="0"/>
                  </a:moveTo>
                  <a:lnTo>
                    <a:pt x="1485925" y="0"/>
                  </a:lnTo>
                  <a:lnTo>
                    <a:pt x="1485925" y="1617899"/>
                  </a:lnTo>
                  <a:lnTo>
                    <a:pt x="0" y="16178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421805" y="434431"/>
              <a:ext cx="1284041" cy="1078595"/>
            </a:xfrm>
            <a:custGeom>
              <a:avLst/>
              <a:gdLst/>
              <a:ahLst/>
              <a:cxnLst/>
              <a:rect r="r" b="b" t="t" l="l"/>
              <a:pathLst>
                <a:path h="1078595" w="1284041">
                  <a:moveTo>
                    <a:pt x="0" y="0"/>
                  </a:moveTo>
                  <a:lnTo>
                    <a:pt x="1284041" y="0"/>
                  </a:lnTo>
                  <a:lnTo>
                    <a:pt x="1284041" y="1078595"/>
                  </a:lnTo>
                  <a:lnTo>
                    <a:pt x="0" y="10785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2" id="12"/>
          <p:cNvGrpSpPr/>
          <p:nvPr/>
        </p:nvGrpSpPr>
        <p:grpSpPr>
          <a:xfrm rot="0">
            <a:off x="239271" y="4773312"/>
            <a:ext cx="8778507" cy="3731542"/>
            <a:chOff x="0" y="0"/>
            <a:chExt cx="11704676" cy="4975389"/>
          </a:xfrm>
        </p:grpSpPr>
        <p:sp>
          <p:nvSpPr>
            <p:cNvPr name="TextBox 13" id="13"/>
            <p:cNvSpPr txBox="true"/>
            <p:nvPr/>
          </p:nvSpPr>
          <p:spPr>
            <a:xfrm rot="0">
              <a:off x="0" y="937927"/>
              <a:ext cx="11704676" cy="4037462"/>
            </a:xfrm>
            <a:prstGeom prst="rect">
              <a:avLst/>
            </a:prstGeom>
          </p:spPr>
          <p:txBody>
            <a:bodyPr anchor="t" rtlCol="false" tIns="0" lIns="0" bIns="0" rIns="0">
              <a:spAutoFit/>
            </a:bodyPr>
            <a:lstStyle/>
            <a:p>
              <a:pPr algn="l" marL="497539" indent="-248770" lvl="1">
                <a:lnSpc>
                  <a:spcPts val="3456"/>
                </a:lnSpc>
                <a:buFont typeface="Arial"/>
                <a:buChar char="•"/>
              </a:pPr>
              <a:r>
                <a:rPr lang="en-US" sz="2304" spc="92">
                  <a:solidFill>
                    <a:srgbClr val="000000"/>
                  </a:solidFill>
                  <a:latin typeface="Open Sauce Light"/>
                  <a:ea typeface="Open Sauce Light"/>
                  <a:cs typeface="Open Sauce Light"/>
                  <a:sym typeface="Open Sauce Light"/>
                </a:rPr>
                <a:t>Default risk is a key challenge in credit business — every bad loan affects profitability.</a:t>
              </a:r>
            </a:p>
            <a:p>
              <a:pPr algn="l" marL="497539" indent="-248770" lvl="1">
                <a:lnSpc>
                  <a:spcPts val="3456"/>
                </a:lnSpc>
                <a:buFont typeface="Arial"/>
                <a:buChar char="•"/>
              </a:pPr>
              <a:r>
                <a:rPr lang="en-US" sz="2304" spc="92">
                  <a:solidFill>
                    <a:srgbClr val="000000"/>
                  </a:solidFill>
                  <a:latin typeface="Open Sauce Light"/>
                  <a:ea typeface="Open Sauce Light"/>
                  <a:cs typeface="Open Sauce Light"/>
                  <a:sym typeface="Open Sauce Light"/>
                </a:rPr>
                <a:t>By us</a:t>
              </a:r>
              <a:r>
                <a:rPr lang="en-US" sz="2304" spc="92">
                  <a:solidFill>
                    <a:srgbClr val="000000"/>
                  </a:solidFill>
                  <a:latin typeface="Open Sauce Light"/>
                  <a:ea typeface="Open Sauce Light"/>
                  <a:cs typeface="Open Sauce Light"/>
                  <a:sym typeface="Open Sauce Light"/>
                </a:rPr>
                <a:t>ing AI models trained on 13 months of customer behavior, we can reduce losses and maximize revenue.</a:t>
              </a:r>
            </a:p>
            <a:p>
              <a:pPr algn="l" marL="497539" indent="-248770" lvl="1">
                <a:lnSpc>
                  <a:spcPts val="3456"/>
                </a:lnSpc>
                <a:buFont typeface="Arial"/>
                <a:buChar char="•"/>
              </a:pPr>
              <a:r>
                <a:rPr lang="en-US" sz="2304" spc="92">
                  <a:solidFill>
                    <a:srgbClr val="000000"/>
                  </a:solidFill>
                  <a:latin typeface="Open Sauce Light"/>
                  <a:ea typeface="Open Sauce Light"/>
                  <a:cs typeface="Open Sauce Light"/>
                  <a:sym typeface="Open Sauce Light"/>
                </a:rPr>
                <a:t>This project transforms raw transaction data into actionable insights for real-time credit decisioning.</a:t>
              </a:r>
            </a:p>
            <a:p>
              <a:pPr algn="l">
                <a:lnSpc>
                  <a:spcPts val="3456"/>
                </a:lnSpc>
              </a:pPr>
            </a:p>
          </p:txBody>
        </p:sp>
        <p:sp>
          <p:nvSpPr>
            <p:cNvPr name="TextBox 14" id="14"/>
            <p:cNvSpPr txBox="true"/>
            <p:nvPr/>
          </p:nvSpPr>
          <p:spPr>
            <a:xfrm rot="0">
              <a:off x="601585" y="-28575"/>
              <a:ext cx="10501506" cy="664967"/>
            </a:xfrm>
            <a:prstGeom prst="rect">
              <a:avLst/>
            </a:prstGeom>
          </p:spPr>
          <p:txBody>
            <a:bodyPr anchor="t" rtlCol="false" tIns="0" lIns="0" bIns="0" rIns="0">
              <a:spAutoFit/>
            </a:bodyPr>
            <a:lstStyle/>
            <a:p>
              <a:pPr algn="ctr">
                <a:lnSpc>
                  <a:spcPts val="4160"/>
                </a:lnSpc>
              </a:pPr>
              <a:r>
                <a:rPr lang="en-US" sz="3200" spc="128">
                  <a:solidFill>
                    <a:srgbClr val="000000"/>
                  </a:solidFill>
                  <a:latin typeface="Open Sauce Light"/>
                  <a:ea typeface="Open Sauce Light"/>
                  <a:cs typeface="Open Sauce Light"/>
                  <a:sym typeface="Open Sauce Light"/>
                </a:rPr>
                <a:t>Why This Matters</a:t>
              </a:r>
            </a:p>
          </p:txBody>
        </p:sp>
      </p:grpSp>
      <p:sp>
        <p:nvSpPr>
          <p:cNvPr name="TextBox 15" id="15"/>
          <p:cNvSpPr txBox="true"/>
          <p:nvPr/>
        </p:nvSpPr>
        <p:spPr>
          <a:xfrm rot="0">
            <a:off x="11978263" y="4751643"/>
            <a:ext cx="3932599" cy="391857"/>
          </a:xfrm>
          <a:prstGeom prst="rect">
            <a:avLst/>
          </a:prstGeom>
        </p:spPr>
        <p:txBody>
          <a:bodyPr anchor="t" rtlCol="false" tIns="0" lIns="0" bIns="0" rIns="0">
            <a:spAutoFit/>
          </a:bodyPr>
          <a:lstStyle/>
          <a:p>
            <a:pPr algn="ctr">
              <a:lnSpc>
                <a:spcPts val="3250"/>
              </a:lnSpc>
            </a:pPr>
            <a:r>
              <a:rPr lang="en-US" sz="2499" spc="99">
                <a:solidFill>
                  <a:srgbClr val="000000"/>
                </a:solidFill>
                <a:latin typeface="Open Sauce Light"/>
                <a:ea typeface="Open Sauce Light"/>
                <a:cs typeface="Open Sauce Light"/>
                <a:sym typeface="Open Sauce Light"/>
              </a:rPr>
              <a:t>What We Did</a:t>
            </a:r>
          </a:p>
        </p:txBody>
      </p:sp>
      <p:sp>
        <p:nvSpPr>
          <p:cNvPr name="TextBox 16" id="16"/>
          <p:cNvSpPr txBox="true"/>
          <p:nvPr/>
        </p:nvSpPr>
        <p:spPr>
          <a:xfrm rot="0">
            <a:off x="9601124" y="5487445"/>
            <a:ext cx="8686876" cy="3296174"/>
          </a:xfrm>
          <a:prstGeom prst="rect">
            <a:avLst/>
          </a:prstGeom>
        </p:spPr>
        <p:txBody>
          <a:bodyPr anchor="t" rtlCol="false" tIns="0" lIns="0" bIns="0" rIns="0">
            <a:spAutoFit/>
          </a:bodyPr>
          <a:lstStyle/>
          <a:p>
            <a:pPr algn="l" marL="496571" indent="-248285" lvl="1">
              <a:lnSpc>
                <a:spcPts val="2990"/>
              </a:lnSpc>
              <a:buFont typeface="Arial"/>
              <a:buChar char="•"/>
            </a:pPr>
            <a:r>
              <a:rPr lang="en-US" sz="2300" spc="92">
                <a:solidFill>
                  <a:srgbClr val="000000"/>
                </a:solidFill>
                <a:latin typeface="Open Sauce"/>
                <a:ea typeface="Open Sauce"/>
                <a:cs typeface="Open Sauce"/>
                <a:sym typeface="Open Sauce"/>
              </a:rPr>
              <a:t>Dev</a:t>
            </a:r>
            <a:r>
              <a:rPr lang="en-US" sz="2300" spc="92">
                <a:solidFill>
                  <a:srgbClr val="000000"/>
                </a:solidFill>
                <a:latin typeface="Open Sauce"/>
                <a:ea typeface="Open Sauce"/>
                <a:cs typeface="Open Sauce"/>
                <a:sym typeface="Open Sauce"/>
              </a:rPr>
              <a:t>elop</a:t>
            </a:r>
            <a:r>
              <a:rPr lang="en-US" sz="2300" spc="92">
                <a:solidFill>
                  <a:srgbClr val="000000"/>
                </a:solidFill>
                <a:latin typeface="Open Sauce"/>
                <a:ea typeface="Open Sauce"/>
                <a:cs typeface="Open Sauce"/>
                <a:sym typeface="Open Sauce"/>
              </a:rPr>
              <a:t>ed two powerful models: XGBoost and Neural Network.</a:t>
            </a:r>
          </a:p>
          <a:p>
            <a:pPr algn="l" marL="496571" indent="-248285" lvl="1">
              <a:lnSpc>
                <a:spcPts val="2990"/>
              </a:lnSpc>
              <a:buFont typeface="Arial"/>
              <a:buChar char="•"/>
            </a:pPr>
            <a:r>
              <a:rPr lang="en-US" sz="2300" spc="92">
                <a:solidFill>
                  <a:srgbClr val="000000"/>
                </a:solidFill>
                <a:latin typeface="Open Sauce"/>
                <a:ea typeface="Open Sauce"/>
                <a:cs typeface="Open Sauce"/>
                <a:sym typeface="Open Sauce"/>
              </a:rPr>
              <a:t>Evaluated 72 XGBoost models and 16 Neural Net configu</a:t>
            </a:r>
            <a:r>
              <a:rPr lang="en-US" sz="2300" spc="92">
                <a:solidFill>
                  <a:srgbClr val="000000"/>
                </a:solidFill>
                <a:latin typeface="Open Sauce"/>
                <a:ea typeface="Open Sauce"/>
                <a:cs typeface="Open Sauce"/>
                <a:sym typeface="Open Sauce"/>
              </a:rPr>
              <a:t>rati</a:t>
            </a:r>
            <a:r>
              <a:rPr lang="en-US" sz="2300" spc="92">
                <a:solidFill>
                  <a:srgbClr val="000000"/>
                </a:solidFill>
                <a:latin typeface="Open Sauce"/>
                <a:ea typeface="Open Sauce"/>
                <a:cs typeface="Open Sauce"/>
                <a:sym typeface="Open Sauce"/>
              </a:rPr>
              <a:t>ons using AUC and rank-ordering performance.</a:t>
            </a:r>
          </a:p>
          <a:p>
            <a:pPr algn="l" marL="496571" indent="-248285" lvl="1">
              <a:lnSpc>
                <a:spcPts val="2990"/>
              </a:lnSpc>
              <a:buFont typeface="Arial"/>
              <a:buChar char="•"/>
            </a:pPr>
            <a:r>
              <a:rPr lang="en-US" sz="2300" spc="92">
                <a:solidFill>
                  <a:srgbClr val="000000"/>
                </a:solidFill>
                <a:latin typeface="Open Sauce"/>
                <a:ea typeface="Open Sauce"/>
                <a:cs typeface="Open Sauce"/>
                <a:sym typeface="Open Sauce"/>
              </a:rPr>
              <a:t>Designed two credit strategies: Conservative (safe but limited growth) and Aggressive (h</a:t>
            </a:r>
            <a:r>
              <a:rPr lang="en-US" sz="2300" spc="92">
                <a:solidFill>
                  <a:srgbClr val="000000"/>
                </a:solidFill>
                <a:latin typeface="Open Sauce"/>
                <a:ea typeface="Open Sauce"/>
                <a:cs typeface="Open Sauce"/>
                <a:sym typeface="Open Sauce"/>
              </a:rPr>
              <a:t>igher growt</a:t>
            </a:r>
            <a:r>
              <a:rPr lang="en-US" sz="2300" spc="92">
                <a:solidFill>
                  <a:srgbClr val="000000"/>
                </a:solidFill>
                <a:latin typeface="Open Sauce"/>
                <a:ea typeface="Open Sauce"/>
                <a:cs typeface="Open Sauce"/>
                <a:sym typeface="Open Sauce"/>
              </a:rPr>
              <a:t>h within acceptable risk).</a:t>
            </a:r>
          </a:p>
          <a:p>
            <a:pPr algn="l">
              <a:lnSpc>
                <a:spcPts val="2752"/>
              </a:lnSpc>
            </a:pPr>
          </a:p>
        </p:txBody>
      </p:sp>
      <p:sp>
        <p:nvSpPr>
          <p:cNvPr name="TextBox 17" id="17"/>
          <p:cNvSpPr txBox="true"/>
          <p:nvPr/>
        </p:nvSpPr>
        <p:spPr>
          <a:xfrm rot="0">
            <a:off x="0" y="1426914"/>
            <a:ext cx="18288000" cy="857250"/>
          </a:xfrm>
          <a:prstGeom prst="rect">
            <a:avLst/>
          </a:prstGeom>
        </p:spPr>
        <p:txBody>
          <a:bodyPr anchor="t" rtlCol="false" tIns="0" lIns="0" bIns="0" rIns="0">
            <a:spAutoFit/>
          </a:bodyPr>
          <a:lstStyle/>
          <a:p>
            <a:pPr algn="ctr">
              <a:lnSpc>
                <a:spcPts val="3300"/>
              </a:lnSpc>
              <a:spcBef>
                <a:spcPct val="0"/>
              </a:spcBef>
            </a:pPr>
            <a:r>
              <a:rPr lang="en-US" sz="3000">
                <a:solidFill>
                  <a:srgbClr val="000000"/>
                </a:solidFill>
                <a:latin typeface="Glacial Indifference"/>
                <a:ea typeface="Glacial Indifference"/>
                <a:cs typeface="Glacial Indifference"/>
                <a:sym typeface="Glacial Indifference"/>
              </a:rPr>
              <a:t>🧠 Project Goal: To build an intelligent credit risk model using AI and machine learning that predicts the likelihood of customer default and helps the company make smarter lending decisions.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855292" y="1962150"/>
          <a:ext cx="7567643" cy="7838267"/>
        </p:xfrm>
        <a:graphic>
          <a:graphicData uri="http://schemas.openxmlformats.org/drawingml/2006/table">
            <a:tbl>
              <a:tblPr/>
              <a:tblGrid>
                <a:gridCol w="2522548"/>
                <a:gridCol w="2522548"/>
                <a:gridCol w="2522548"/>
              </a:tblGrid>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Months of Data</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 Obs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Default Rate (%)</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1,031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32.01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2</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1,250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31.76</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3</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1,113</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36.75</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4</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875</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43.54</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5</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951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40.17</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6</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1,118</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39.00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7</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1,039</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42.64</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8</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1,260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44.44</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9</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1,250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45.60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10</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1,301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44.97</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11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1,192</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43.88</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61813">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12</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2,025</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38.47</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34700">
                <a:tc>
                  <a:txBody>
                    <a:bodyPr anchor="t" rtlCol="false"/>
                    <a:lstStyle/>
                    <a:p>
                      <a:pPr algn="l">
                        <a:lnSpc>
                          <a:spcPts val="2519"/>
                        </a:lnSpc>
                        <a:defRPr/>
                      </a:pPr>
                      <a:r>
                        <a:rPr lang="en-US" sz="1799" b="true">
                          <a:solidFill>
                            <a:srgbClr val="000000"/>
                          </a:solidFill>
                          <a:latin typeface="Glacial Indifference Bold"/>
                          <a:ea typeface="Glacial Indifference Bold"/>
                          <a:cs typeface="Glacial Indifference Bold"/>
                          <a:sym typeface="Glacial Indifference Bold"/>
                        </a:rPr>
                        <a:t>13</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77,378</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Glacial Indifference"/>
                          <a:ea typeface="Glacial Indifference"/>
                          <a:cs typeface="Glacial Indifference"/>
                          <a:sym typeface="Glacial Indifference"/>
                        </a:rPr>
                        <a:t>23.11</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45854" y="7315811"/>
            <a:ext cx="3393660" cy="2804012"/>
          </a:xfrm>
          <a:custGeom>
            <a:avLst/>
            <a:gdLst/>
            <a:ahLst/>
            <a:cxnLst/>
            <a:rect r="r" b="b" t="t" l="l"/>
            <a:pathLst>
              <a:path h="2804012" w="3393660">
                <a:moveTo>
                  <a:pt x="0" y="0"/>
                </a:moveTo>
                <a:lnTo>
                  <a:pt x="3393661" y="0"/>
                </a:lnTo>
                <a:lnTo>
                  <a:pt x="3393661" y="2804011"/>
                </a:lnTo>
                <a:lnTo>
                  <a:pt x="0" y="2804011"/>
                </a:lnTo>
                <a:lnTo>
                  <a:pt x="0" y="0"/>
                </a:lnTo>
                <a:close/>
              </a:path>
            </a:pathLst>
          </a:custGeom>
          <a:blipFill>
            <a:blip r:embed="rId2"/>
            <a:stretch>
              <a:fillRect l="0" t="0" r="0" b="0"/>
            </a:stretch>
          </a:blipFill>
        </p:spPr>
      </p:sp>
      <p:sp>
        <p:nvSpPr>
          <p:cNvPr name="Freeform 4" id="4"/>
          <p:cNvSpPr/>
          <p:nvPr/>
        </p:nvSpPr>
        <p:spPr>
          <a:xfrm flipH="false" flipV="false" rot="0">
            <a:off x="14222652" y="6749060"/>
            <a:ext cx="3395457" cy="3370763"/>
          </a:xfrm>
          <a:custGeom>
            <a:avLst/>
            <a:gdLst/>
            <a:ahLst/>
            <a:cxnLst/>
            <a:rect r="r" b="b" t="t" l="l"/>
            <a:pathLst>
              <a:path h="3370763" w="3395457">
                <a:moveTo>
                  <a:pt x="0" y="0"/>
                </a:moveTo>
                <a:lnTo>
                  <a:pt x="3395457" y="0"/>
                </a:lnTo>
                <a:lnTo>
                  <a:pt x="3395457" y="3370762"/>
                </a:lnTo>
                <a:lnTo>
                  <a:pt x="0" y="33707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518610" y="411910"/>
            <a:ext cx="4241006"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Data Understanding</a:t>
            </a:r>
          </a:p>
        </p:txBody>
      </p:sp>
      <p:sp>
        <p:nvSpPr>
          <p:cNvPr name="TextBox 6" id="6"/>
          <p:cNvSpPr txBox="true"/>
          <p:nvPr/>
        </p:nvSpPr>
        <p:spPr>
          <a:xfrm rot="0">
            <a:off x="1357772" y="869110"/>
            <a:ext cx="14562683" cy="790575"/>
          </a:xfrm>
          <a:prstGeom prst="rect">
            <a:avLst/>
          </a:prstGeom>
        </p:spPr>
        <p:txBody>
          <a:bodyPr anchor="t" rtlCol="false" tIns="0" lIns="0" bIns="0" rIns="0">
            <a:spAutoFit/>
          </a:bodyPr>
          <a:lstStyle/>
          <a:p>
            <a:pPr algn="l">
              <a:lnSpc>
                <a:spcPts val="3119"/>
              </a:lnSpc>
            </a:pPr>
          </a:p>
          <a:p>
            <a:pPr algn="l" marL="561339" indent="-280669" lvl="1">
              <a:lnSpc>
                <a:spcPts val="3119"/>
              </a:lnSpc>
              <a:buFont typeface="Arial"/>
              <a:buChar char="•"/>
            </a:pPr>
            <a:r>
              <a:rPr lang="en-US" b="true" sz="2599" spc="259">
                <a:solidFill>
                  <a:srgbClr val="000000"/>
                </a:solidFill>
                <a:latin typeface="Glacial Indifference Bold"/>
                <a:ea typeface="Glacial Indifference Bold"/>
                <a:cs typeface="Glacial Indifference Bold"/>
                <a:sym typeface="Glacial Indifference Bold"/>
              </a:rPr>
              <a:t>How many months worth data we have of our customers is showcased here.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B48AB"/>
        </a:solidFill>
      </p:bgPr>
    </p:bg>
    <p:spTree>
      <p:nvGrpSpPr>
        <p:cNvPr id="1" name=""/>
        <p:cNvGrpSpPr/>
        <p:nvPr/>
      </p:nvGrpSpPr>
      <p:grpSpPr>
        <a:xfrm>
          <a:off x="0" y="0"/>
          <a:ext cx="0" cy="0"/>
          <a:chOff x="0" y="0"/>
          <a:chExt cx="0" cy="0"/>
        </a:xfrm>
      </p:grpSpPr>
      <p:grpSp>
        <p:nvGrpSpPr>
          <p:cNvPr name="Group 2" id="2"/>
          <p:cNvGrpSpPr/>
          <p:nvPr/>
        </p:nvGrpSpPr>
        <p:grpSpPr>
          <a:xfrm rot="0">
            <a:off x="17499545" y="535253"/>
            <a:ext cx="493447" cy="493447"/>
            <a:chOff x="0" y="0"/>
            <a:chExt cx="657929" cy="657929"/>
          </a:xfrm>
        </p:grpSpPr>
        <p:grpSp>
          <p:nvGrpSpPr>
            <p:cNvPr name="Group 3" id="3"/>
            <p:cNvGrpSpPr>
              <a:grpSpLocks noChangeAspect="true"/>
            </p:cNvGrpSpPr>
            <p:nvPr/>
          </p:nvGrpSpPr>
          <p:grpSpPr>
            <a:xfrm rot="0">
              <a:off x="0" y="0"/>
              <a:ext cx="657929" cy="657929"/>
              <a:chOff x="0" y="0"/>
              <a:chExt cx="6355080" cy="6355080"/>
            </a:xfrm>
          </p:grpSpPr>
          <p:sp>
            <p:nvSpPr>
              <p:cNvPr name="Freeform 4" id="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sp>
          <p:nvSpPr>
            <p:cNvPr name="Freeform 5" id="5"/>
            <p:cNvSpPr/>
            <p:nvPr/>
          </p:nvSpPr>
          <p:spPr>
            <a:xfrm flipH="false" flipV="false" rot="5400000">
              <a:off x="109655" y="109655"/>
              <a:ext cx="438619" cy="438619"/>
            </a:xfrm>
            <a:custGeom>
              <a:avLst/>
              <a:gdLst/>
              <a:ahLst/>
              <a:cxnLst/>
              <a:rect r="r" b="b" t="t" l="l"/>
              <a:pathLst>
                <a:path h="438619" w="438619">
                  <a:moveTo>
                    <a:pt x="0" y="0"/>
                  </a:moveTo>
                  <a:lnTo>
                    <a:pt x="438619" y="0"/>
                  </a:lnTo>
                  <a:lnTo>
                    <a:pt x="438619" y="438619"/>
                  </a:lnTo>
                  <a:lnTo>
                    <a:pt x="0" y="4386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293484" y="2049548"/>
            <a:ext cx="4569214" cy="5250297"/>
          </a:xfrm>
          <a:custGeom>
            <a:avLst/>
            <a:gdLst/>
            <a:ahLst/>
            <a:cxnLst/>
            <a:rect r="r" b="b" t="t" l="l"/>
            <a:pathLst>
              <a:path h="5250297" w="4569214">
                <a:moveTo>
                  <a:pt x="0" y="0"/>
                </a:moveTo>
                <a:lnTo>
                  <a:pt x="4569215" y="0"/>
                </a:lnTo>
                <a:lnTo>
                  <a:pt x="4569215" y="5250298"/>
                </a:lnTo>
                <a:lnTo>
                  <a:pt x="0" y="5250298"/>
                </a:lnTo>
                <a:lnTo>
                  <a:pt x="0" y="0"/>
                </a:lnTo>
                <a:close/>
              </a:path>
            </a:pathLst>
          </a:custGeom>
          <a:blipFill>
            <a:blip r:embed="rId4"/>
            <a:stretch>
              <a:fillRect l="0" t="-160" r="0" b="-160"/>
            </a:stretch>
          </a:blipFill>
        </p:spPr>
      </p:sp>
      <p:graphicFrame>
        <p:nvGraphicFramePr>
          <p:cNvPr name="Table 7" id="7"/>
          <p:cNvGraphicFramePr>
            <a:graphicFrameLocks noGrp="true"/>
          </p:cNvGraphicFramePr>
          <p:nvPr/>
        </p:nvGraphicFramePr>
        <p:xfrm>
          <a:off x="5696769" y="3896528"/>
          <a:ext cx="10611323" cy="5550015"/>
        </p:xfrm>
        <a:graphic>
          <a:graphicData uri="http://schemas.openxmlformats.org/drawingml/2006/table">
            <a:tbl>
              <a:tblPr/>
              <a:tblGrid>
                <a:gridCol w="2310366"/>
                <a:gridCol w="2310366"/>
                <a:gridCol w="3996347"/>
                <a:gridCol w="1994244"/>
              </a:tblGrid>
              <a:tr h="669046">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Feature Category</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Prefix</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Description</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 of Features</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785512">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Spend</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S_</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Monthly spending activity</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21</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669046">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Balance</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B_</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Account balances</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48</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853810">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Delinquency</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D_</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Late payments, delinquencies</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117</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806621">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Risk</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R_</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Risk scores, ratios, credit factors</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28</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864729">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Other</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Product type, status, misc. binary</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6</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r h="901250">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Total</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c>
                  <a:txBody>
                    <a:bodyPr anchor="t" rtlCol="false"/>
                    <a:lstStyle/>
                    <a:p>
                      <a:pPr algn="l">
                        <a:lnSpc>
                          <a:spcPts val="2800"/>
                        </a:lnSpc>
                        <a:defRPr/>
                      </a:pPr>
                      <a:r>
                        <a:rPr lang="en-US" sz="2000">
                          <a:solidFill>
                            <a:srgbClr val="FFFFFF"/>
                          </a:solidFill>
                          <a:latin typeface="Glacial Indifference"/>
                          <a:ea typeface="Glacial Indifference"/>
                          <a:cs typeface="Glacial Indifference"/>
                          <a:sym typeface="Glacial Indifference"/>
                        </a:rPr>
                        <a:t>220</a:t>
                      </a:r>
                      <a:endParaRPr lang="en-US" sz="1100"/>
                    </a:p>
                  </a:txBody>
                  <a:tcPr marL="142875" marR="142875" marT="142875" marB="14287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tcPr>
                </a:tc>
              </a:tr>
            </a:tbl>
          </a:graphicData>
        </a:graphic>
      </p:graphicFrame>
      <p:grpSp>
        <p:nvGrpSpPr>
          <p:cNvPr name="Group 8" id="8"/>
          <p:cNvGrpSpPr/>
          <p:nvPr/>
        </p:nvGrpSpPr>
        <p:grpSpPr>
          <a:xfrm rot="0">
            <a:off x="5696769" y="227506"/>
            <a:ext cx="9378496" cy="3644084"/>
            <a:chOff x="0" y="0"/>
            <a:chExt cx="12504662" cy="4858779"/>
          </a:xfrm>
        </p:grpSpPr>
        <p:sp>
          <p:nvSpPr>
            <p:cNvPr name="TextBox 9" id="9"/>
            <p:cNvSpPr txBox="true"/>
            <p:nvPr/>
          </p:nvSpPr>
          <p:spPr>
            <a:xfrm rot="0">
              <a:off x="0" y="133350"/>
              <a:ext cx="12504662" cy="1283607"/>
            </a:xfrm>
            <a:prstGeom prst="rect">
              <a:avLst/>
            </a:prstGeom>
          </p:spPr>
          <p:txBody>
            <a:bodyPr anchor="t" rtlCol="false" tIns="0" lIns="0" bIns="0" rIns="0">
              <a:spAutoFit/>
            </a:bodyPr>
            <a:lstStyle/>
            <a:p>
              <a:pPr algn="l">
                <a:lnSpc>
                  <a:spcPts val="6999"/>
                </a:lnSpc>
              </a:pPr>
              <a:r>
                <a:rPr lang="en-US" sz="6999">
                  <a:solidFill>
                    <a:srgbClr val="FFFFFF"/>
                  </a:solidFill>
                  <a:latin typeface="Glacial Indifference"/>
                  <a:ea typeface="Glacial Indifference"/>
                  <a:cs typeface="Glacial Indifference"/>
                  <a:sym typeface="Glacial Indifference"/>
                </a:rPr>
                <a:t>Ra</a:t>
              </a:r>
              <a:r>
                <a:rPr lang="en-US" sz="6999">
                  <a:solidFill>
                    <a:srgbClr val="FFFFFF"/>
                  </a:solidFill>
                  <a:latin typeface="Glacial Indifference"/>
                  <a:ea typeface="Glacial Indifference"/>
                  <a:cs typeface="Glacial Indifference"/>
                  <a:sym typeface="Glacial Indifference"/>
                </a:rPr>
                <a:t>w Feature</a:t>
              </a:r>
              <a:r>
                <a:rPr lang="en-US" sz="6999">
                  <a:solidFill>
                    <a:srgbClr val="FFFFFF"/>
                  </a:solidFill>
                  <a:latin typeface="Glacial Indifference"/>
                  <a:ea typeface="Glacial Indifference"/>
                  <a:cs typeface="Glacial Indifference"/>
                  <a:sym typeface="Glacial Indifference"/>
                </a:rPr>
                <a:t>s</a:t>
              </a:r>
            </a:p>
          </p:txBody>
        </p:sp>
        <p:sp>
          <p:nvSpPr>
            <p:cNvPr name="TextBox 10" id="10"/>
            <p:cNvSpPr txBox="true"/>
            <p:nvPr/>
          </p:nvSpPr>
          <p:spPr>
            <a:xfrm rot="0">
              <a:off x="0" y="1713395"/>
              <a:ext cx="12504662" cy="3145385"/>
            </a:xfrm>
            <a:prstGeom prst="rect">
              <a:avLst/>
            </a:prstGeom>
          </p:spPr>
          <p:txBody>
            <a:bodyPr anchor="t" rtlCol="false" tIns="0" lIns="0" bIns="0" rIns="0">
              <a:spAutoFit/>
            </a:bodyPr>
            <a:lstStyle/>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Each row represents a monthly snapshot of a customer.</a:t>
              </a:r>
            </a:p>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Numerical Features:</a:t>
              </a:r>
            </a:p>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Spend (S_), Balance (B_), Delinquency (D_), Risk (R_)</a:t>
              </a:r>
            </a:p>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Categorical/Binary Features:</a:t>
              </a:r>
            </a:p>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Product type, revolving status, account status, etc.</a:t>
              </a:r>
            </a:p>
            <a:p>
              <a:pPr algn="l" marL="388620" indent="-194310" lvl="1">
                <a:lnSpc>
                  <a:spcPts val="2700"/>
                </a:lnSpc>
                <a:buFont typeface="Arial"/>
                <a:buChar char="•"/>
              </a:pPr>
              <a:r>
                <a:rPr lang="en-US" sz="1800" spc="72">
                  <a:solidFill>
                    <a:srgbClr val="FFFFFF"/>
                  </a:solidFill>
                  <a:latin typeface="Open Sauce Light"/>
                  <a:ea typeface="Open Sauce Light"/>
                  <a:cs typeface="Open Sauce Light"/>
                  <a:sym typeface="Open Sauce Light"/>
                </a:rPr>
                <a:t>Time-Indexed: Each variable has values across 13 months.</a:t>
              </a:r>
            </a:p>
            <a:p>
              <a:pPr algn="l">
                <a:lnSpc>
                  <a:spcPts val="2700"/>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8EDE4"/>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7499545" y="535253"/>
            <a:ext cx="493447" cy="493447"/>
            <a:chOff x="0" y="0"/>
            <a:chExt cx="6355080" cy="6355080"/>
          </a:xfrm>
        </p:grpSpPr>
        <p:sp>
          <p:nvSpPr>
            <p:cNvPr name="Freeform 3" id="3"/>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0000"/>
            </a:solidFill>
          </p:spPr>
        </p:sp>
      </p:grpSp>
      <p:sp>
        <p:nvSpPr>
          <p:cNvPr name="AutoShape 4" id="4"/>
          <p:cNvSpPr/>
          <p:nvPr/>
        </p:nvSpPr>
        <p:spPr>
          <a:xfrm rot="-5400000">
            <a:off x="4435899" y="3932223"/>
            <a:ext cx="9525" cy="2519433"/>
          </a:xfrm>
          <a:prstGeom prst="rect">
            <a:avLst/>
          </a:prstGeom>
          <a:solidFill>
            <a:srgbClr val="000000"/>
          </a:solidFill>
        </p:spPr>
      </p:sp>
      <p:graphicFrame>
        <p:nvGraphicFramePr>
          <p:cNvPr name="Table 5" id="5"/>
          <p:cNvGraphicFramePr>
            <a:graphicFrameLocks noGrp="true"/>
          </p:cNvGraphicFramePr>
          <p:nvPr/>
        </p:nvGraphicFramePr>
        <p:xfrm>
          <a:off x="10431068" y="2240039"/>
          <a:ext cx="7315200" cy="7534275"/>
        </p:xfrm>
        <a:graphic>
          <a:graphicData uri="http://schemas.openxmlformats.org/drawingml/2006/table">
            <a:tbl>
              <a:tblPr/>
              <a:tblGrid>
                <a:gridCol w="1828800"/>
                <a:gridCol w="1828800"/>
                <a:gridCol w="1828800"/>
                <a:gridCol w="1828800"/>
              </a:tblGrid>
              <a:tr h="907169">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Feature Category</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Prefix</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Aggregations Created</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 Engineered Features</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192">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Spend</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S_</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Avg (6m, 12m), Min (6m), Max (9m), Apr '17/'18</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126</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192">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Balance</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B_</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Avg (6m, 12m), Min (6m), Max (9m), Apr '17/'18</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252</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192">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Delinquency</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D_</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Avg (6m, 12m), Min (6m), Max (9m), Apr '17/'18</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594</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192">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Risk</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R_</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Avg (6m, 12m), Min (6m), Max (9m), Apr '17/'18</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168</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192">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Other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Similar aggregations or left unchanged</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25</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11145">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Total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79"/>
                        </a:lnSpc>
                        <a:defRPr/>
                      </a:pPr>
                      <a:r>
                        <a:rPr lang="en-US" sz="1699">
                          <a:solidFill>
                            <a:srgbClr val="000000"/>
                          </a:solidFill>
                          <a:latin typeface="Glacial Indifference"/>
                          <a:ea typeface="Glacial Indifference"/>
                          <a:cs typeface="Glacial Indifference"/>
                          <a:sym typeface="Glacial Indifference"/>
                        </a:rPr>
                        <a:t>1165</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6" id="6"/>
          <p:cNvGraphicFramePr>
            <a:graphicFrameLocks noGrp="true"/>
          </p:cNvGraphicFramePr>
          <p:nvPr/>
        </p:nvGraphicFramePr>
        <p:xfrm>
          <a:off x="1028700" y="5659514"/>
          <a:ext cx="7315200" cy="4114800"/>
        </p:xfrm>
        <a:graphic>
          <a:graphicData uri="http://schemas.openxmlformats.org/drawingml/2006/table">
            <a:tbl>
              <a:tblPr/>
              <a:tblGrid>
                <a:gridCol w="1219200"/>
                <a:gridCol w="1219200"/>
                <a:gridCol w="1219200"/>
                <a:gridCol w="1219200"/>
                <a:gridCol w="1219200"/>
                <a:gridCol w="1219200"/>
              </a:tblGrid>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Feature</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Mean</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Std Dev</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Min</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Max</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Missing %</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P_2_Min_6</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0.60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0.27</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-0.39</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1.01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0.57%</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P_2_Ave_6</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0.64</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0.25</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-0.35</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1.01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0.57%</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B_1_Ave_6</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0.13</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0.21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-0.05</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1.32</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B_2_Ave_6</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0.61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0.37</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1.01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0.01%</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85800">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R_1_Ave_6</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0.09</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0.20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2.05</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960"/>
                        </a:lnSpc>
                        <a:defRPr/>
                      </a:pPr>
                      <a:r>
                        <a:rPr lang="en-US" sz="1400">
                          <a:solidFill>
                            <a:srgbClr val="000000"/>
                          </a:solidFill>
                          <a:latin typeface="Glacial Indifference"/>
                          <a:ea typeface="Glacial Indifference"/>
                          <a:cs typeface="Glacial Indifference"/>
                          <a:sym typeface="Glacial Indifference"/>
                        </a:rPr>
                        <a:t>0.00%</a:t>
                      </a:r>
                      <a:endParaRPr lang="en-US" sz="1100"/>
                    </a:p>
                  </a:txBody>
                  <a:tcPr marL="104775" marR="104775" marT="104775" marB="1047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7" id="7"/>
          <p:cNvGrpSpPr/>
          <p:nvPr/>
        </p:nvGrpSpPr>
        <p:grpSpPr>
          <a:xfrm rot="0">
            <a:off x="345387" y="381306"/>
            <a:ext cx="9673240" cy="4762194"/>
            <a:chOff x="0" y="0"/>
            <a:chExt cx="12897653" cy="6349592"/>
          </a:xfrm>
        </p:grpSpPr>
        <p:sp>
          <p:nvSpPr>
            <p:cNvPr name="TextBox 8" id="8"/>
            <p:cNvSpPr txBox="true"/>
            <p:nvPr/>
          </p:nvSpPr>
          <p:spPr>
            <a:xfrm rot="0">
              <a:off x="0" y="883678"/>
              <a:ext cx="12897653" cy="5465913"/>
            </a:xfrm>
            <a:prstGeom prst="rect">
              <a:avLst/>
            </a:prstGeom>
          </p:spPr>
          <p:txBody>
            <a:bodyPr anchor="t" rtlCol="false" tIns="0" lIns="0" bIns="0" rIns="0">
              <a:spAutoFit/>
            </a:bodyPr>
            <a:lstStyle/>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Created statistical summaries (mean, max, min) over fixed time windows: Last 3, 6, and 12 months</a:t>
              </a:r>
            </a:p>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Extra</a:t>
              </a:r>
              <a:r>
                <a:rPr lang="en-US" sz="1971" spc="78">
                  <a:solidFill>
                    <a:srgbClr val="000000"/>
                  </a:solidFill>
                  <a:latin typeface="Open Sauce Light"/>
                  <a:ea typeface="Open Sauce Light"/>
                  <a:cs typeface="Open Sauce Light"/>
                  <a:sym typeface="Open Sauce Light"/>
                </a:rPr>
                <a:t>cted March 2018 values for each feature to capture the most recent customer status</a:t>
              </a:r>
            </a:p>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Calculat</a:t>
              </a:r>
              <a:r>
                <a:rPr lang="en-US" sz="1971" spc="78">
                  <a:solidFill>
                    <a:srgbClr val="000000"/>
                  </a:solidFill>
                  <a:latin typeface="Open Sauce Light"/>
                  <a:ea typeface="Open Sauce Light"/>
                  <a:cs typeface="Open Sauce Light"/>
                  <a:sym typeface="Open Sauce Light"/>
                </a:rPr>
                <a:t>ed percent change features to reflect trends over time:</a:t>
              </a:r>
            </a:p>
            <a:p>
              <a:pPr algn="l">
                <a:lnSpc>
                  <a:spcPts val="2957"/>
                </a:lnSpc>
              </a:pPr>
              <a:r>
                <a:rPr lang="en-US" sz="1971" spc="78">
                  <a:solidFill>
                    <a:srgbClr val="000000"/>
                  </a:solidFill>
                  <a:latin typeface="Open Sauce Light"/>
                  <a:ea typeface="Open Sauce Light"/>
                  <a:cs typeface="Open Sauce Light"/>
                  <a:sym typeface="Open Sauce Light"/>
                </a:rPr>
                <a:t>      </a:t>
              </a:r>
              <a:r>
                <a:rPr lang="en-US" sz="1971" spc="78">
                  <a:solidFill>
                    <a:srgbClr val="000000"/>
                  </a:solidFill>
                  <a:latin typeface="Open Sauce Light"/>
                  <a:ea typeface="Open Sauce Light"/>
                  <a:cs typeface="Open Sauce Light"/>
                  <a:sym typeface="Open Sauce Light"/>
                </a:rPr>
                <a:t>e.g., (Mar 2018 – Mar 2017) / Mar 2017</a:t>
              </a:r>
            </a:p>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Appli</a:t>
              </a:r>
              <a:r>
                <a:rPr lang="en-US" sz="1971" spc="78">
                  <a:solidFill>
                    <a:srgbClr val="000000"/>
                  </a:solidFill>
                  <a:latin typeface="Open Sauce Light"/>
                  <a:ea typeface="Open Sauce Light"/>
                  <a:cs typeface="Open Sauce Light"/>
                  <a:sym typeface="Open Sauce Light"/>
                </a:rPr>
                <a:t>ed aggregations to both:</a:t>
              </a:r>
            </a:p>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Numerical features (e.g., balance, spend, risk scores)</a:t>
              </a:r>
            </a:p>
            <a:p>
              <a:pPr algn="l" marL="425690" indent="-212845" lvl="1">
                <a:lnSpc>
                  <a:spcPts val="2957"/>
                </a:lnSpc>
                <a:buFont typeface="Arial"/>
                <a:buChar char="•"/>
              </a:pPr>
              <a:r>
                <a:rPr lang="en-US" sz="1971" spc="78">
                  <a:solidFill>
                    <a:srgbClr val="000000"/>
                  </a:solidFill>
                  <a:latin typeface="Open Sauce Light"/>
                  <a:ea typeface="Open Sauce Light"/>
                  <a:cs typeface="Open Sauce Light"/>
                  <a:sym typeface="Open Sauce Light"/>
                </a:rPr>
                <a:t>Binary/categorical features (after one-hot encoding)</a:t>
              </a:r>
            </a:p>
            <a:p>
              <a:pPr algn="l">
                <a:lnSpc>
                  <a:spcPts val="2957"/>
                </a:lnSpc>
              </a:pPr>
              <a:r>
                <a:rPr lang="en-US" sz="1971" spc="78">
                  <a:solidFill>
                    <a:srgbClr val="000000"/>
                  </a:solidFill>
                  <a:latin typeface="Open Sauce Light"/>
                  <a:ea typeface="Open Sauce Light"/>
                  <a:cs typeface="Open Sauce Light"/>
                  <a:sym typeface="Open Sauce Light"/>
                </a:rPr>
                <a:t>Resulting features represent a customer’s behavioral patterns across time, enabling better prediction of default risk</a:t>
              </a:r>
            </a:p>
          </p:txBody>
        </p:sp>
        <p:sp>
          <p:nvSpPr>
            <p:cNvPr name="TextBox 9" id="9"/>
            <p:cNvSpPr txBox="true"/>
            <p:nvPr/>
          </p:nvSpPr>
          <p:spPr>
            <a:xfrm rot="0">
              <a:off x="0" y="-38100"/>
              <a:ext cx="12897653" cy="693654"/>
            </a:xfrm>
            <a:prstGeom prst="rect">
              <a:avLst/>
            </a:prstGeom>
          </p:spPr>
          <p:txBody>
            <a:bodyPr anchor="t" rtlCol="false" tIns="0" lIns="0" bIns="0" rIns="0">
              <a:spAutoFit/>
            </a:bodyPr>
            <a:lstStyle/>
            <a:p>
              <a:pPr algn="ctr">
                <a:lnSpc>
                  <a:spcPts val="4272"/>
                </a:lnSpc>
              </a:pPr>
              <a:r>
                <a:rPr lang="en-US" b="true" sz="3286" spc="131">
                  <a:solidFill>
                    <a:srgbClr val="000000"/>
                  </a:solidFill>
                  <a:latin typeface="Open Sauce Bold"/>
                  <a:ea typeface="Open Sauce Bold"/>
                  <a:cs typeface="Open Sauce Bold"/>
                  <a:sym typeface="Open Sauce Bold"/>
                </a:rPr>
                <a:t>Fe</a:t>
              </a:r>
              <a:r>
                <a:rPr lang="en-US" b="true" sz="3286" spc="131">
                  <a:solidFill>
                    <a:srgbClr val="000000"/>
                  </a:solidFill>
                  <a:latin typeface="Open Sauce Bold"/>
                  <a:ea typeface="Open Sauce Bold"/>
                  <a:cs typeface="Open Sauce Bold"/>
                  <a:sym typeface="Open Sauce Bold"/>
                </a:rPr>
                <a:t>ature Engineering</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1633974" y="3769281"/>
            <a:ext cx="15568301" cy="4853750"/>
          </a:xfrm>
          <a:custGeom>
            <a:avLst/>
            <a:gdLst/>
            <a:ahLst/>
            <a:cxnLst/>
            <a:rect r="r" b="b" t="t" l="l"/>
            <a:pathLst>
              <a:path h="4853750" w="15568301">
                <a:moveTo>
                  <a:pt x="0" y="0"/>
                </a:moveTo>
                <a:lnTo>
                  <a:pt x="15568301" y="0"/>
                </a:lnTo>
                <a:lnTo>
                  <a:pt x="15568301" y="4853750"/>
                </a:lnTo>
                <a:lnTo>
                  <a:pt x="0" y="4853750"/>
                </a:lnTo>
                <a:lnTo>
                  <a:pt x="0" y="0"/>
                </a:lnTo>
                <a:close/>
              </a:path>
            </a:pathLst>
          </a:custGeom>
          <a:blipFill>
            <a:blip r:embed="rId2"/>
            <a:stretch>
              <a:fillRect l="-244" t="0" r="-4750" b="0"/>
            </a:stretch>
          </a:blipFill>
        </p:spPr>
      </p:sp>
      <p:sp>
        <p:nvSpPr>
          <p:cNvPr name="TextBox 3" id="3"/>
          <p:cNvSpPr txBox="true"/>
          <p:nvPr/>
        </p:nvSpPr>
        <p:spPr>
          <a:xfrm rot="0">
            <a:off x="2498041" y="472922"/>
            <a:ext cx="13840167" cy="2552700"/>
          </a:xfrm>
          <a:prstGeom prst="rect">
            <a:avLst/>
          </a:prstGeom>
        </p:spPr>
        <p:txBody>
          <a:bodyPr anchor="t" rtlCol="false" tIns="0" lIns="0" bIns="0" rIns="0">
            <a:spAutoFit/>
          </a:bodyPr>
          <a:lstStyle/>
          <a:p>
            <a:pPr algn="ctr">
              <a:lnSpc>
                <a:spcPts val="9900"/>
              </a:lnSpc>
            </a:pPr>
            <a:r>
              <a:rPr lang="en-US" sz="9000">
                <a:solidFill>
                  <a:srgbClr val="000000"/>
                </a:solidFill>
                <a:latin typeface="Glacial Indifference"/>
                <a:ea typeface="Glacial Indifference"/>
                <a:cs typeface="Glacial Indifference"/>
                <a:sym typeface="Glacial Indifference"/>
              </a:rPr>
              <a:t>Top 5 features using SHAP Analysis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3D3D"/>
        </a:solidFill>
      </p:bgPr>
    </p:bg>
    <p:spTree>
      <p:nvGrpSpPr>
        <p:cNvPr id="1" name=""/>
        <p:cNvGrpSpPr/>
        <p:nvPr/>
      </p:nvGrpSpPr>
      <p:grpSpPr>
        <a:xfrm>
          <a:off x="0" y="0"/>
          <a:ext cx="0" cy="0"/>
          <a:chOff x="0" y="0"/>
          <a:chExt cx="0" cy="0"/>
        </a:xfrm>
      </p:grpSpPr>
      <p:sp>
        <p:nvSpPr>
          <p:cNvPr name="Freeform 2" id="2"/>
          <p:cNvSpPr/>
          <p:nvPr/>
        </p:nvSpPr>
        <p:spPr>
          <a:xfrm flipH="false" flipV="false" rot="0">
            <a:off x="3099711" y="4049761"/>
            <a:ext cx="12088578" cy="1093739"/>
          </a:xfrm>
          <a:custGeom>
            <a:avLst/>
            <a:gdLst/>
            <a:ahLst/>
            <a:cxnLst/>
            <a:rect r="r" b="b" t="t" l="l"/>
            <a:pathLst>
              <a:path h="1093739" w="12088578">
                <a:moveTo>
                  <a:pt x="0" y="0"/>
                </a:moveTo>
                <a:lnTo>
                  <a:pt x="12088578" y="0"/>
                </a:lnTo>
                <a:lnTo>
                  <a:pt x="12088578" y="1093739"/>
                </a:lnTo>
                <a:lnTo>
                  <a:pt x="0" y="1093739"/>
                </a:lnTo>
                <a:lnTo>
                  <a:pt x="0" y="0"/>
                </a:lnTo>
                <a:close/>
              </a:path>
            </a:pathLst>
          </a:custGeom>
          <a:blipFill>
            <a:blip r:embed="rId2"/>
            <a:stretch>
              <a:fillRect l="0" t="-9614" r="0" b="-7819"/>
            </a:stretch>
          </a:blipFill>
        </p:spPr>
      </p:sp>
      <p:sp>
        <p:nvSpPr>
          <p:cNvPr name="TextBox 3" id="3"/>
          <p:cNvSpPr txBox="true"/>
          <p:nvPr/>
        </p:nvSpPr>
        <p:spPr>
          <a:xfrm rot="0">
            <a:off x="6623149" y="1019175"/>
            <a:ext cx="5041702" cy="609600"/>
          </a:xfrm>
          <a:prstGeom prst="rect">
            <a:avLst/>
          </a:prstGeom>
        </p:spPr>
        <p:txBody>
          <a:bodyPr anchor="t" rtlCol="false" tIns="0" lIns="0" bIns="0" rIns="0">
            <a:spAutoFit/>
          </a:bodyPr>
          <a:lstStyle/>
          <a:p>
            <a:pPr algn="ctr">
              <a:lnSpc>
                <a:spcPts val="4799"/>
              </a:lnSpc>
              <a:spcBef>
                <a:spcPct val="0"/>
              </a:spcBef>
            </a:pPr>
            <a:r>
              <a:rPr lang="en-US" b="true" sz="3999" spc="399">
                <a:solidFill>
                  <a:srgbClr val="000000"/>
                </a:solidFill>
                <a:latin typeface="Glacial Indifference Bold"/>
                <a:ea typeface="Glacial Indifference Bold"/>
                <a:cs typeface="Glacial Indifference Bold"/>
                <a:sym typeface="Glacial Indifference Bold"/>
              </a:rPr>
              <a:t>One-Hot Encoding</a:t>
            </a:r>
          </a:p>
        </p:txBody>
      </p:sp>
      <p:sp>
        <p:nvSpPr>
          <p:cNvPr name="TextBox 4" id="4"/>
          <p:cNvSpPr txBox="true"/>
          <p:nvPr/>
        </p:nvSpPr>
        <p:spPr>
          <a:xfrm rot="0">
            <a:off x="257175" y="2064372"/>
            <a:ext cx="15854586" cy="923925"/>
          </a:xfrm>
          <a:prstGeom prst="rect">
            <a:avLst/>
          </a:prstGeom>
        </p:spPr>
        <p:txBody>
          <a:bodyPr anchor="t" rtlCol="false" tIns="0" lIns="0" bIns="0" rIns="0">
            <a:spAutoFit/>
          </a:bodyPr>
          <a:lstStyle/>
          <a:p>
            <a:pPr algn="just" marL="647700" indent="-323850" lvl="1">
              <a:lnSpc>
                <a:spcPts val="3600"/>
              </a:lnSpc>
              <a:buFont typeface="Arial"/>
              <a:buChar char="•"/>
            </a:pPr>
            <a:r>
              <a:rPr lang="en-US" b="true" sz="3000" spc="300">
                <a:solidFill>
                  <a:srgbClr val="F8EDE4"/>
                </a:solidFill>
                <a:latin typeface="Glacial Indifference Bold"/>
                <a:ea typeface="Glacial Indifference Bold"/>
                <a:cs typeface="Glacial Indifference Bold"/>
                <a:sym typeface="Glacial Indifference Bold"/>
              </a:rPr>
              <a:t>Categorical variables that were binary or nominal with few categories.</a:t>
            </a:r>
          </a:p>
          <a:p>
            <a:pPr algn="just">
              <a:lnSpc>
                <a:spcPts val="3600"/>
              </a:lnSpc>
            </a:pPr>
          </a:p>
        </p:txBody>
      </p:sp>
      <p:sp>
        <p:nvSpPr>
          <p:cNvPr name="TextBox 5" id="5"/>
          <p:cNvSpPr txBox="true"/>
          <p:nvPr/>
        </p:nvSpPr>
        <p:spPr>
          <a:xfrm rot="0">
            <a:off x="597888" y="2750172"/>
            <a:ext cx="16817380" cy="466725"/>
          </a:xfrm>
          <a:prstGeom prst="rect">
            <a:avLst/>
          </a:prstGeom>
        </p:spPr>
        <p:txBody>
          <a:bodyPr anchor="t" rtlCol="false" tIns="0" lIns="0" bIns="0" rIns="0">
            <a:spAutoFit/>
          </a:bodyPr>
          <a:lstStyle/>
          <a:p>
            <a:pPr algn="l">
              <a:lnSpc>
                <a:spcPts val="3600"/>
              </a:lnSpc>
            </a:pPr>
            <a:r>
              <a:rPr lang="en-US" sz="3000" spc="300" b="true">
                <a:solidFill>
                  <a:srgbClr val="FFFFFF"/>
                </a:solidFill>
                <a:latin typeface="Glacial Indifference Bold"/>
                <a:ea typeface="Glacial Indifference Bold"/>
                <a:cs typeface="Glacial Indifference Bold"/>
                <a:sym typeface="Glacial Indifference Bold"/>
              </a:rPr>
              <a:t>These were the columns, which were selected for One Hot Encoding operation. </a:t>
            </a:r>
          </a:p>
        </p:txBody>
      </p:sp>
      <p:sp>
        <p:nvSpPr>
          <p:cNvPr name="Freeform 6" id="6"/>
          <p:cNvSpPr/>
          <p:nvPr/>
        </p:nvSpPr>
        <p:spPr>
          <a:xfrm flipH="false" flipV="false" rot="0">
            <a:off x="3099711" y="5591175"/>
            <a:ext cx="12088578" cy="4371359"/>
          </a:xfrm>
          <a:custGeom>
            <a:avLst/>
            <a:gdLst/>
            <a:ahLst/>
            <a:cxnLst/>
            <a:rect r="r" b="b" t="t" l="l"/>
            <a:pathLst>
              <a:path h="4371359" w="12088578">
                <a:moveTo>
                  <a:pt x="0" y="0"/>
                </a:moveTo>
                <a:lnTo>
                  <a:pt x="12088578" y="0"/>
                </a:lnTo>
                <a:lnTo>
                  <a:pt x="12088578" y="4371359"/>
                </a:lnTo>
                <a:lnTo>
                  <a:pt x="0" y="4371359"/>
                </a:lnTo>
                <a:lnTo>
                  <a:pt x="0" y="0"/>
                </a:lnTo>
                <a:close/>
              </a:path>
            </a:pathLst>
          </a:custGeom>
          <a:blipFill>
            <a:blip r:embed="rId3"/>
            <a:stretch>
              <a:fillRect l="0" t="0" r="-1504"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ED3D3D"/>
        </a:solidFill>
      </p:bgPr>
    </p:bg>
    <p:spTree>
      <p:nvGrpSpPr>
        <p:cNvPr id="1" name=""/>
        <p:cNvGrpSpPr/>
        <p:nvPr/>
      </p:nvGrpSpPr>
      <p:grpSpPr>
        <a:xfrm>
          <a:off x="0" y="0"/>
          <a:ext cx="0" cy="0"/>
          <a:chOff x="0" y="0"/>
          <a:chExt cx="0" cy="0"/>
        </a:xfrm>
      </p:grpSpPr>
      <p:sp>
        <p:nvSpPr>
          <p:cNvPr name="TextBox 2" id="2"/>
          <p:cNvSpPr txBox="true"/>
          <p:nvPr/>
        </p:nvSpPr>
        <p:spPr>
          <a:xfrm rot="0">
            <a:off x="5366147" y="2254834"/>
            <a:ext cx="7555706" cy="609600"/>
          </a:xfrm>
          <a:prstGeom prst="rect">
            <a:avLst/>
          </a:prstGeom>
        </p:spPr>
        <p:txBody>
          <a:bodyPr anchor="t" rtlCol="false" tIns="0" lIns="0" bIns="0" rIns="0">
            <a:spAutoFit/>
          </a:bodyPr>
          <a:lstStyle/>
          <a:p>
            <a:pPr algn="ctr">
              <a:lnSpc>
                <a:spcPts val="4799"/>
              </a:lnSpc>
              <a:spcBef>
                <a:spcPct val="0"/>
              </a:spcBef>
            </a:pPr>
            <a:r>
              <a:rPr lang="en-US" b="true" sz="3999" spc="399">
                <a:solidFill>
                  <a:srgbClr val="FFFFFF"/>
                </a:solidFill>
                <a:latin typeface="Glacial Indifference Bold"/>
                <a:ea typeface="Glacial Indifference Bold"/>
                <a:cs typeface="Glacial Indifference Bold"/>
                <a:sym typeface="Glacial Indifference Bold"/>
              </a:rPr>
              <a:t>One-Hot Encoding results: </a:t>
            </a:r>
          </a:p>
        </p:txBody>
      </p:sp>
      <p:sp>
        <p:nvSpPr>
          <p:cNvPr name="TextBox 3" id="3"/>
          <p:cNvSpPr txBox="true"/>
          <p:nvPr/>
        </p:nvSpPr>
        <p:spPr>
          <a:xfrm rot="0">
            <a:off x="514350" y="3796084"/>
            <a:ext cx="17259300" cy="32099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D_63: D_63_CO, D_63_CR, D_63_XL, D_63_XM, D_63_XZ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D_64: D_64_O, D_64_R, D_64_U, D_64_nan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D_68: D_68_1.0, D_68_2.0, D_68_3.0, D_68_4.0, D_68_5.0, D_68_6.0, D_68_nan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D_117: D_117_1.0, D_117_2.0, D_117_3.0, D_117_4.0, D_117_5.0, D_117_6.0, D_117_nan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B_30: B_30_1.0, B_30_2.0, B_30_nan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D_126: D_126_0.0, D_126_1.0, D_126_nan  </a:t>
            </a:r>
          </a:p>
          <a:p>
            <a:pPr algn="ctr">
              <a:lnSpc>
                <a:spcPts val="3600"/>
              </a:lnSpc>
              <a:spcBef>
                <a:spcPct val="0"/>
              </a:spcBef>
            </a:pPr>
            <a:r>
              <a:rPr lang="en-US" b="true" sz="3000" spc="300">
                <a:solidFill>
                  <a:srgbClr val="FFFFFF"/>
                </a:solidFill>
                <a:latin typeface="Glacial Indifference Bold"/>
                <a:ea typeface="Glacial Indifference Bold"/>
                <a:cs typeface="Glacial Indifference Bold"/>
                <a:sym typeface="Glacial Indifference Bold"/>
              </a:rPr>
              <a:t>B_38: B_38_2.0, B_38_3.0, B_38_4.0, B_38_5.0, B_38_6.0, B_38_7.0, B_38_nan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324176" y="4508552"/>
            <a:ext cx="8250504" cy="5496899"/>
          </a:xfrm>
          <a:custGeom>
            <a:avLst/>
            <a:gdLst/>
            <a:ahLst/>
            <a:cxnLst/>
            <a:rect r="r" b="b" t="t" l="l"/>
            <a:pathLst>
              <a:path h="5496899" w="8250504">
                <a:moveTo>
                  <a:pt x="0" y="0"/>
                </a:moveTo>
                <a:lnTo>
                  <a:pt x="8250505" y="0"/>
                </a:lnTo>
                <a:lnTo>
                  <a:pt x="8250505" y="5496898"/>
                </a:lnTo>
                <a:lnTo>
                  <a:pt x="0" y="5496898"/>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9419711" y="4508552"/>
          <a:ext cx="8120100" cy="5575397"/>
        </p:xfrm>
        <a:graphic>
          <a:graphicData uri="http://schemas.openxmlformats.org/drawingml/2006/table">
            <a:tbl>
              <a:tblPr/>
              <a:tblGrid>
                <a:gridCol w="2516257"/>
                <a:gridCol w="2516257"/>
                <a:gridCol w="3087586"/>
              </a:tblGrid>
              <a:tr h="1266664">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Feature Category</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 Engineered Features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 Selected for Model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1747">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Spend (S_)</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126</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0</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1747">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Balance (B_)</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252</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3</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1747">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Delinquency (D_)</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594</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3</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1747">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Risk (R_)</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168</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1</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61747">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Other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25</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939"/>
                        </a:lnSpc>
                        <a:defRPr/>
                      </a:pPr>
                      <a:r>
                        <a:rPr lang="en-US" sz="2099">
                          <a:solidFill>
                            <a:srgbClr val="000000"/>
                          </a:solidFill>
                          <a:latin typeface="Glacial Indifference"/>
                          <a:ea typeface="Glacial Indifference"/>
                          <a:cs typeface="Glacial Indifference"/>
                          <a:sym typeface="Glacial Indifference"/>
                        </a:rPr>
                        <a:t>3</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3197191" y="442913"/>
            <a:ext cx="11383194" cy="609600"/>
          </a:xfrm>
          <a:prstGeom prst="rect">
            <a:avLst/>
          </a:prstGeom>
        </p:spPr>
        <p:txBody>
          <a:bodyPr anchor="t" rtlCol="false" tIns="0" lIns="0" bIns="0" rIns="0">
            <a:spAutoFit/>
          </a:bodyPr>
          <a:lstStyle/>
          <a:p>
            <a:pPr algn="ctr">
              <a:lnSpc>
                <a:spcPts val="4799"/>
              </a:lnSpc>
              <a:spcBef>
                <a:spcPct val="0"/>
              </a:spcBef>
            </a:pPr>
            <a:r>
              <a:rPr lang="en-US" b="true" sz="3999" spc="399">
                <a:solidFill>
                  <a:srgbClr val="000000"/>
                </a:solidFill>
                <a:latin typeface="Glacial Indifference Bold"/>
                <a:ea typeface="Glacial Indifference Bold"/>
                <a:cs typeface="Glacial Indifference Bold"/>
                <a:sym typeface="Glacial Indifference Bold"/>
              </a:rPr>
              <a:t>Feature Selection – XGBoost Importance</a:t>
            </a:r>
          </a:p>
        </p:txBody>
      </p:sp>
      <p:sp>
        <p:nvSpPr>
          <p:cNvPr name="TextBox 5" id="5"/>
          <p:cNvSpPr txBox="true"/>
          <p:nvPr/>
        </p:nvSpPr>
        <p:spPr>
          <a:xfrm rot="0">
            <a:off x="792331" y="1319213"/>
            <a:ext cx="17254761" cy="2752725"/>
          </a:xfrm>
          <a:prstGeom prst="rect">
            <a:avLst/>
          </a:prstGeom>
        </p:spPr>
        <p:txBody>
          <a:bodyPr anchor="t" rtlCol="false" tIns="0" lIns="0" bIns="0" rIns="0">
            <a:spAutoFit/>
          </a:bodyPr>
          <a:lstStyle/>
          <a:p>
            <a:pPr algn="l">
              <a:lnSpc>
                <a:spcPts val="3600"/>
              </a:lnSpc>
            </a:pPr>
            <a:r>
              <a:rPr lang="en-US" b="true" sz="3000" spc="300">
                <a:solidFill>
                  <a:srgbClr val="000000"/>
                </a:solidFill>
                <a:latin typeface="Glacial Indifference Bold"/>
                <a:ea typeface="Glacial Indifference Bold"/>
                <a:cs typeface="Glacial Indifference Bold"/>
                <a:sym typeface="Glacial Indifference Bold"/>
              </a:rPr>
              <a:t>We trained two XGBoost models:</a:t>
            </a:r>
          </a:p>
          <a:p>
            <a:pPr algn="l" marL="647700" indent="-323850" lvl="1">
              <a:lnSpc>
                <a:spcPts val="3600"/>
              </a:lnSpc>
              <a:buFont typeface="Arial"/>
              <a:buChar char="•"/>
            </a:pPr>
            <a:r>
              <a:rPr lang="en-US" b="true" sz="3000" spc="300">
                <a:solidFill>
                  <a:srgbClr val="000000"/>
                </a:solidFill>
                <a:latin typeface="Glacial Indifference Bold"/>
                <a:ea typeface="Glacial Indifference Bold"/>
                <a:cs typeface="Glacial Indifference Bold"/>
                <a:sym typeface="Glacial Indifference Bold"/>
              </a:rPr>
              <a:t>Model 1: Default parameters</a:t>
            </a:r>
          </a:p>
          <a:p>
            <a:pPr algn="l" marL="647700" indent="-323850" lvl="1">
              <a:lnSpc>
                <a:spcPts val="3600"/>
              </a:lnSpc>
              <a:buFont typeface="Arial"/>
              <a:buChar char="•"/>
            </a:pPr>
            <a:r>
              <a:rPr lang="en-US" b="true" sz="3000" spc="300">
                <a:solidFill>
                  <a:srgbClr val="000000"/>
                </a:solidFill>
                <a:latin typeface="Glacial Indifference Bold"/>
                <a:ea typeface="Glacial Indifference Bold"/>
                <a:cs typeface="Glacial Indifference Bold"/>
                <a:sym typeface="Glacial Indifference Bold"/>
              </a:rPr>
              <a:t>Model 2: Custom parameters (300 trees, learning rate=0.5, max_depth=4, etc.)</a:t>
            </a:r>
          </a:p>
          <a:p>
            <a:pPr algn="l">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Calculated feature importance using the Gain metric.</a:t>
            </a:r>
          </a:p>
          <a:p>
            <a:pPr algn="l">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Selection Rule: Keep features with &gt;0.5% importance in either model.</a:t>
            </a:r>
          </a:p>
          <a:p>
            <a:pPr algn="l">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Final Set: 54 features retained for modeling.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10430994" y="195075"/>
            <a:ext cx="7068551" cy="4497365"/>
          </a:xfrm>
          <a:custGeom>
            <a:avLst/>
            <a:gdLst/>
            <a:ahLst/>
            <a:cxnLst/>
            <a:rect r="r" b="b" t="t" l="l"/>
            <a:pathLst>
              <a:path h="4497365" w="7068551">
                <a:moveTo>
                  <a:pt x="0" y="0"/>
                </a:moveTo>
                <a:lnTo>
                  <a:pt x="7068551" y="0"/>
                </a:lnTo>
                <a:lnTo>
                  <a:pt x="7068551" y="4497366"/>
                </a:lnTo>
                <a:lnTo>
                  <a:pt x="0" y="4497366"/>
                </a:lnTo>
                <a:lnTo>
                  <a:pt x="0" y="0"/>
                </a:lnTo>
                <a:close/>
              </a:path>
            </a:pathLst>
          </a:custGeom>
          <a:blipFill>
            <a:blip r:embed="rId2"/>
            <a:stretch>
              <a:fillRect l="0" t="0" r="0" b="0"/>
            </a:stretch>
          </a:blipFill>
        </p:spPr>
      </p:sp>
      <p:sp>
        <p:nvSpPr>
          <p:cNvPr name="Freeform 3" id="3"/>
          <p:cNvSpPr/>
          <p:nvPr/>
        </p:nvSpPr>
        <p:spPr>
          <a:xfrm flipH="false" flipV="false" rot="0">
            <a:off x="10430994" y="5453879"/>
            <a:ext cx="7068551" cy="4833121"/>
          </a:xfrm>
          <a:custGeom>
            <a:avLst/>
            <a:gdLst/>
            <a:ahLst/>
            <a:cxnLst/>
            <a:rect r="r" b="b" t="t" l="l"/>
            <a:pathLst>
              <a:path h="4833121" w="7068551">
                <a:moveTo>
                  <a:pt x="0" y="0"/>
                </a:moveTo>
                <a:lnTo>
                  <a:pt x="7068551" y="0"/>
                </a:lnTo>
                <a:lnTo>
                  <a:pt x="7068551" y="4833121"/>
                </a:lnTo>
                <a:lnTo>
                  <a:pt x="0" y="4833121"/>
                </a:lnTo>
                <a:lnTo>
                  <a:pt x="0" y="0"/>
                </a:lnTo>
                <a:close/>
              </a:path>
            </a:pathLst>
          </a:custGeom>
          <a:blipFill>
            <a:blip r:embed="rId3"/>
            <a:stretch>
              <a:fillRect l="0" t="0" r="0" b="0"/>
            </a:stretch>
          </a:blipFill>
        </p:spPr>
      </p:sp>
      <p:sp>
        <p:nvSpPr>
          <p:cNvPr name="Freeform 4" id="4"/>
          <p:cNvSpPr/>
          <p:nvPr/>
        </p:nvSpPr>
        <p:spPr>
          <a:xfrm flipH="false" flipV="false" rot="0">
            <a:off x="398556" y="5025246"/>
            <a:ext cx="8984905" cy="3067455"/>
          </a:xfrm>
          <a:custGeom>
            <a:avLst/>
            <a:gdLst/>
            <a:ahLst/>
            <a:cxnLst/>
            <a:rect r="r" b="b" t="t" l="l"/>
            <a:pathLst>
              <a:path h="3067455" w="8984905">
                <a:moveTo>
                  <a:pt x="0" y="0"/>
                </a:moveTo>
                <a:lnTo>
                  <a:pt x="8984905" y="0"/>
                </a:lnTo>
                <a:lnTo>
                  <a:pt x="8984905" y="3067455"/>
                </a:lnTo>
                <a:lnTo>
                  <a:pt x="0" y="3067455"/>
                </a:lnTo>
                <a:lnTo>
                  <a:pt x="0" y="0"/>
                </a:lnTo>
                <a:close/>
              </a:path>
            </a:pathLst>
          </a:custGeom>
          <a:blipFill>
            <a:blip r:embed="rId4"/>
            <a:stretch>
              <a:fillRect l="0" t="-615" r="0" b="0"/>
            </a:stretch>
          </a:blipFill>
        </p:spPr>
      </p:sp>
      <p:sp>
        <p:nvSpPr>
          <p:cNvPr name="TextBox 5" id="5"/>
          <p:cNvSpPr txBox="true"/>
          <p:nvPr/>
        </p:nvSpPr>
        <p:spPr>
          <a:xfrm rot="0">
            <a:off x="1065408" y="1028700"/>
            <a:ext cx="6956673" cy="523875"/>
          </a:xfrm>
          <a:prstGeom prst="rect">
            <a:avLst/>
          </a:prstGeom>
        </p:spPr>
        <p:txBody>
          <a:bodyPr anchor="t" rtlCol="false" tIns="0" lIns="0" bIns="0" rIns="0">
            <a:spAutoFit/>
          </a:bodyPr>
          <a:lstStyle/>
          <a:p>
            <a:pPr algn="ctr">
              <a:lnSpc>
                <a:spcPts val="4199"/>
              </a:lnSpc>
              <a:spcBef>
                <a:spcPct val="0"/>
              </a:spcBef>
            </a:pPr>
            <a:r>
              <a:rPr lang="en-US" b="true" sz="3499" spc="349">
                <a:solidFill>
                  <a:srgbClr val="000000"/>
                </a:solidFill>
                <a:latin typeface="Glacial Indifference Bold"/>
                <a:ea typeface="Glacial Indifference Bold"/>
                <a:cs typeface="Glacial Indifference Bold"/>
                <a:sym typeface="Glacial Indifference Bold"/>
              </a:rPr>
              <a:t>XGBoost – Grid Search code</a:t>
            </a:r>
          </a:p>
        </p:txBody>
      </p:sp>
      <p:sp>
        <p:nvSpPr>
          <p:cNvPr name="TextBox 6" id="6"/>
          <p:cNvSpPr txBox="true"/>
          <p:nvPr/>
        </p:nvSpPr>
        <p:spPr>
          <a:xfrm rot="0">
            <a:off x="638017" y="2434233"/>
            <a:ext cx="8505983" cy="1533525"/>
          </a:xfrm>
          <a:prstGeom prst="rect">
            <a:avLst/>
          </a:prstGeom>
        </p:spPr>
        <p:txBody>
          <a:bodyPr anchor="t" rtlCol="false" tIns="0" lIns="0" bIns="0" rIns="0">
            <a:spAutoFit/>
          </a:bodyPr>
          <a:lstStyle/>
          <a:p>
            <a:pPr algn="l">
              <a:lnSpc>
                <a:spcPts val="3063"/>
              </a:lnSpc>
              <a:spcBef>
                <a:spcPct val="0"/>
              </a:spcBef>
            </a:pPr>
            <a:r>
              <a:rPr lang="en-US" b="true" sz="2552" spc="255">
                <a:solidFill>
                  <a:srgbClr val="000000"/>
                </a:solidFill>
                <a:latin typeface="Arimo Bold"/>
                <a:ea typeface="Arimo Bold"/>
                <a:cs typeface="Arimo Bold"/>
                <a:sym typeface="Arimo Bold"/>
              </a:rPr>
              <a:t>We evaluated 72 models from the XGBoost grid search, using three datasets: Train, Test1, and Test2.</a:t>
            </a:r>
          </a:p>
          <a:p>
            <a:pPr algn="l">
              <a:lnSpc>
                <a:spcPts val="3063"/>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3776044" y="2166209"/>
            <a:ext cx="9348696" cy="7250698"/>
          </a:xfrm>
          <a:custGeom>
            <a:avLst/>
            <a:gdLst/>
            <a:ahLst/>
            <a:cxnLst/>
            <a:rect r="r" b="b" t="t" l="l"/>
            <a:pathLst>
              <a:path h="7250698" w="9348696">
                <a:moveTo>
                  <a:pt x="0" y="0"/>
                </a:moveTo>
                <a:lnTo>
                  <a:pt x="9348696" y="0"/>
                </a:lnTo>
                <a:lnTo>
                  <a:pt x="9348696" y="7250698"/>
                </a:lnTo>
                <a:lnTo>
                  <a:pt x="0" y="7250698"/>
                </a:lnTo>
                <a:lnTo>
                  <a:pt x="0" y="0"/>
                </a:lnTo>
                <a:close/>
              </a:path>
            </a:pathLst>
          </a:custGeom>
          <a:blipFill>
            <a:blip r:embed="rId2"/>
            <a:stretch>
              <a:fillRect l="-331" t="0" r="-331" b="0"/>
            </a:stretch>
          </a:blipFill>
        </p:spPr>
      </p:sp>
      <p:sp>
        <p:nvSpPr>
          <p:cNvPr name="TextBox 3" id="3"/>
          <p:cNvSpPr txBox="true"/>
          <p:nvPr/>
        </p:nvSpPr>
        <p:spPr>
          <a:xfrm rot="0">
            <a:off x="5761291" y="1156597"/>
            <a:ext cx="6163469"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XGBoost – Grid Search result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552268" y="3428434"/>
            <a:ext cx="8150915" cy="5829866"/>
          </a:xfrm>
          <a:custGeom>
            <a:avLst/>
            <a:gdLst/>
            <a:ahLst/>
            <a:cxnLst/>
            <a:rect r="r" b="b" t="t" l="l"/>
            <a:pathLst>
              <a:path h="5829866" w="8150915">
                <a:moveTo>
                  <a:pt x="0" y="0"/>
                </a:moveTo>
                <a:lnTo>
                  <a:pt x="8150915" y="0"/>
                </a:lnTo>
                <a:lnTo>
                  <a:pt x="8150915" y="5829866"/>
                </a:lnTo>
                <a:lnTo>
                  <a:pt x="0" y="5829866"/>
                </a:lnTo>
                <a:lnTo>
                  <a:pt x="0" y="0"/>
                </a:lnTo>
                <a:close/>
              </a:path>
            </a:pathLst>
          </a:custGeom>
          <a:blipFill>
            <a:blip r:embed="rId2"/>
            <a:stretch>
              <a:fillRect l="0" t="0" r="0" b="0"/>
            </a:stretch>
          </a:blipFill>
        </p:spPr>
      </p:sp>
      <p:sp>
        <p:nvSpPr>
          <p:cNvPr name="Freeform 3" id="3"/>
          <p:cNvSpPr/>
          <p:nvPr/>
        </p:nvSpPr>
        <p:spPr>
          <a:xfrm flipH="false" flipV="false" rot="0">
            <a:off x="9369599" y="3364612"/>
            <a:ext cx="8129945" cy="5893688"/>
          </a:xfrm>
          <a:custGeom>
            <a:avLst/>
            <a:gdLst/>
            <a:ahLst/>
            <a:cxnLst/>
            <a:rect r="r" b="b" t="t" l="l"/>
            <a:pathLst>
              <a:path h="5893688" w="8129945">
                <a:moveTo>
                  <a:pt x="0" y="0"/>
                </a:moveTo>
                <a:lnTo>
                  <a:pt x="8129946" y="0"/>
                </a:lnTo>
                <a:lnTo>
                  <a:pt x="8129946" y="5893688"/>
                </a:lnTo>
                <a:lnTo>
                  <a:pt x="0" y="5893688"/>
                </a:lnTo>
                <a:lnTo>
                  <a:pt x="0" y="0"/>
                </a:lnTo>
                <a:close/>
              </a:path>
            </a:pathLst>
          </a:custGeom>
          <a:blipFill>
            <a:blip r:embed="rId3"/>
            <a:stretch>
              <a:fillRect l="0" t="0" r="0" b="0"/>
            </a:stretch>
          </a:blipFill>
        </p:spPr>
      </p:sp>
      <p:sp>
        <p:nvSpPr>
          <p:cNvPr name="TextBox 4" id="4"/>
          <p:cNvSpPr txBox="true"/>
          <p:nvPr/>
        </p:nvSpPr>
        <p:spPr>
          <a:xfrm rot="0">
            <a:off x="5702609" y="525728"/>
            <a:ext cx="6001147"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XGBoost – Grid Search plots</a:t>
            </a:r>
          </a:p>
        </p:txBody>
      </p:sp>
      <p:sp>
        <p:nvSpPr>
          <p:cNvPr name="TextBox 5" id="5"/>
          <p:cNvSpPr txBox="true"/>
          <p:nvPr/>
        </p:nvSpPr>
        <p:spPr>
          <a:xfrm rot="0">
            <a:off x="1626952" y="1407282"/>
            <a:ext cx="15034096" cy="1181100"/>
          </a:xfrm>
          <a:prstGeom prst="rect">
            <a:avLst/>
          </a:prstGeom>
        </p:spPr>
        <p:txBody>
          <a:bodyPr anchor="t" rtlCol="false" tIns="0" lIns="0" bIns="0" rIns="0">
            <a:spAutoFit/>
          </a:bodyPr>
          <a:lstStyle/>
          <a:p>
            <a:pPr algn="ctr">
              <a:lnSpc>
                <a:spcPts val="3120"/>
              </a:lnSpc>
              <a:spcBef>
                <a:spcPct val="0"/>
              </a:spcBef>
            </a:pPr>
            <a:r>
              <a:rPr lang="en-US" b="true" sz="2600" spc="260">
                <a:solidFill>
                  <a:srgbClr val="000000"/>
                </a:solidFill>
                <a:latin typeface="Glacial Indifference Bold"/>
                <a:ea typeface="Glacial Indifference Bold"/>
                <a:cs typeface="Glacial Indifference Bold"/>
                <a:sym typeface="Glacial Indifference Bold"/>
              </a:rPr>
              <a:t>For each model:</a:t>
            </a:r>
          </a:p>
          <a:p>
            <a:pPr algn="ctr">
              <a:lnSpc>
                <a:spcPts val="3120"/>
              </a:lnSpc>
              <a:spcBef>
                <a:spcPct val="0"/>
              </a:spcBef>
            </a:pPr>
            <a:r>
              <a:rPr lang="en-US" b="true" sz="2600" spc="260">
                <a:solidFill>
                  <a:srgbClr val="000000"/>
                </a:solidFill>
                <a:latin typeface="Glacial Indifference Bold"/>
                <a:ea typeface="Glacial Indifference Bold"/>
                <a:cs typeface="Glacial Indifference Bold"/>
                <a:sym typeface="Glacial Indifference Bold"/>
              </a:rPr>
              <a:t>Average AUC: to measure overall strength</a:t>
            </a:r>
          </a:p>
          <a:p>
            <a:pPr algn="ctr">
              <a:lnSpc>
                <a:spcPts val="3120"/>
              </a:lnSpc>
              <a:spcBef>
                <a:spcPct val="0"/>
              </a:spcBef>
            </a:pPr>
            <a:r>
              <a:rPr lang="en-US" b="true" sz="2600" spc="260">
                <a:solidFill>
                  <a:srgbClr val="000000"/>
                </a:solidFill>
                <a:latin typeface="Glacial Indifference Bold"/>
                <a:ea typeface="Glacial Indifference Bold"/>
                <a:cs typeface="Glacial Indifference Bold"/>
                <a:sym typeface="Glacial Indifference Bold"/>
              </a:rPr>
              <a:t>AUC Standard Deviation: to assess model stability (lower = better generalization)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332057" y="535253"/>
            <a:ext cx="3644560" cy="3246971"/>
          </a:xfrm>
          <a:custGeom>
            <a:avLst/>
            <a:gdLst/>
            <a:ahLst/>
            <a:cxnLst/>
            <a:rect r="r" b="b" t="t" l="l"/>
            <a:pathLst>
              <a:path h="3246971" w="3644560">
                <a:moveTo>
                  <a:pt x="0" y="0"/>
                </a:moveTo>
                <a:lnTo>
                  <a:pt x="3644560" y="0"/>
                </a:lnTo>
                <a:lnTo>
                  <a:pt x="3644560" y="3246972"/>
                </a:lnTo>
                <a:lnTo>
                  <a:pt x="0" y="3246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2735" y="4115022"/>
            <a:ext cx="3771181" cy="5700014"/>
          </a:xfrm>
          <a:custGeom>
            <a:avLst/>
            <a:gdLst/>
            <a:ahLst/>
            <a:cxnLst/>
            <a:rect r="r" b="b" t="t" l="l"/>
            <a:pathLst>
              <a:path h="5700014" w="3771181">
                <a:moveTo>
                  <a:pt x="0" y="0"/>
                </a:moveTo>
                <a:lnTo>
                  <a:pt x="3771181" y="0"/>
                </a:lnTo>
                <a:lnTo>
                  <a:pt x="3771181" y="5700014"/>
                </a:lnTo>
                <a:lnTo>
                  <a:pt x="0" y="5700014"/>
                </a:lnTo>
                <a:lnTo>
                  <a:pt x="0" y="0"/>
                </a:lnTo>
                <a:close/>
              </a:path>
            </a:pathLst>
          </a:custGeom>
          <a:blipFill>
            <a:blip r:embed="rId4"/>
            <a:stretch>
              <a:fillRect l="0" t="-1890" r="0" b="-1890"/>
            </a:stretch>
          </a:blipFill>
        </p:spPr>
      </p:sp>
      <p:sp>
        <p:nvSpPr>
          <p:cNvPr name="TextBox 4" id="4"/>
          <p:cNvSpPr txBox="true"/>
          <p:nvPr/>
        </p:nvSpPr>
        <p:spPr>
          <a:xfrm rot="0">
            <a:off x="3959281" y="1896801"/>
            <a:ext cx="13768015" cy="523875"/>
          </a:xfrm>
          <a:prstGeom prst="rect">
            <a:avLst/>
          </a:prstGeom>
        </p:spPr>
        <p:txBody>
          <a:bodyPr anchor="t" rtlCol="false" tIns="0" lIns="0" bIns="0" rIns="0">
            <a:spAutoFit/>
          </a:bodyPr>
          <a:lstStyle/>
          <a:p>
            <a:pPr algn="ctr">
              <a:lnSpc>
                <a:spcPts val="4199"/>
              </a:lnSpc>
              <a:spcBef>
                <a:spcPct val="0"/>
              </a:spcBef>
            </a:pPr>
            <a:r>
              <a:rPr lang="en-US" b="true" sz="3499" spc="349">
                <a:solidFill>
                  <a:srgbClr val="000000"/>
                </a:solidFill>
                <a:latin typeface="Glacial Indifference Bold"/>
                <a:ea typeface="Glacial Indifference Bold"/>
                <a:cs typeface="Glacial Indifference Bold"/>
                <a:sym typeface="Glacial Indifference Bold"/>
              </a:rPr>
              <a:t>XGBoost – Model Selection (Bias vs Variance Trade-off)</a:t>
            </a:r>
          </a:p>
        </p:txBody>
      </p:sp>
      <p:sp>
        <p:nvSpPr>
          <p:cNvPr name="TextBox 5" id="5"/>
          <p:cNvSpPr txBox="true"/>
          <p:nvPr/>
        </p:nvSpPr>
        <p:spPr>
          <a:xfrm rot="0">
            <a:off x="4942551" y="3548285"/>
            <a:ext cx="12484877" cy="1123950"/>
          </a:xfrm>
          <a:prstGeom prst="rect">
            <a:avLst/>
          </a:prstGeom>
        </p:spPr>
        <p:txBody>
          <a:bodyPr anchor="t" rtlCol="false" tIns="0" lIns="0" bIns="0" rIns="0">
            <a:spAutoFit/>
          </a:bodyPr>
          <a:lstStyle/>
          <a:p>
            <a:pPr algn="l">
              <a:lnSpc>
                <a:spcPts val="2999"/>
              </a:lnSpc>
              <a:spcBef>
                <a:spcPct val="0"/>
              </a:spcBef>
            </a:pPr>
            <a:r>
              <a:rPr lang="en-US" b="true" sz="2499" spc="249">
                <a:solidFill>
                  <a:srgbClr val="000000"/>
                </a:solidFill>
                <a:latin typeface="Arimo Bold"/>
                <a:ea typeface="Arimo Bold"/>
                <a:cs typeface="Arimo Bold"/>
                <a:sym typeface="Arimo Bold"/>
              </a:rPr>
              <a:t>Models were sorted by:</a:t>
            </a:r>
          </a:p>
          <a:p>
            <a:pPr algn="l">
              <a:lnSpc>
                <a:spcPts val="2999"/>
              </a:lnSpc>
              <a:spcBef>
                <a:spcPct val="0"/>
              </a:spcBef>
            </a:pPr>
            <a:r>
              <a:rPr lang="en-US" b="true" sz="2499" spc="249">
                <a:solidFill>
                  <a:srgbClr val="000000"/>
                </a:solidFill>
                <a:latin typeface="Arimo Bold"/>
                <a:ea typeface="Arimo Bold"/>
                <a:cs typeface="Arimo Bold"/>
                <a:sym typeface="Arimo Bold"/>
              </a:rPr>
              <a:t>Highest Average AUC (to prioritize predictive strength)</a:t>
            </a:r>
          </a:p>
          <a:p>
            <a:pPr algn="l">
              <a:lnSpc>
                <a:spcPts val="2999"/>
              </a:lnSpc>
              <a:spcBef>
                <a:spcPct val="0"/>
              </a:spcBef>
            </a:pPr>
            <a:r>
              <a:rPr lang="en-US" b="true" sz="2499" spc="249">
                <a:solidFill>
                  <a:srgbClr val="000000"/>
                </a:solidFill>
                <a:latin typeface="Arimo Bold"/>
                <a:ea typeface="Arimo Bold"/>
                <a:cs typeface="Arimo Bold"/>
                <a:sym typeface="Arimo Bold"/>
              </a:rPr>
              <a:t>Lowest AUC Std Dev (to prioritize stability)</a:t>
            </a:r>
          </a:p>
        </p:txBody>
      </p:sp>
      <p:sp>
        <p:nvSpPr>
          <p:cNvPr name="TextBox 6" id="6"/>
          <p:cNvSpPr txBox="true"/>
          <p:nvPr/>
        </p:nvSpPr>
        <p:spPr>
          <a:xfrm rot="0">
            <a:off x="4942551" y="6013183"/>
            <a:ext cx="13345449" cy="2543175"/>
          </a:xfrm>
          <a:prstGeom prst="rect">
            <a:avLst/>
          </a:prstGeom>
        </p:spPr>
        <p:txBody>
          <a:bodyPr anchor="t" rtlCol="false" tIns="0" lIns="0" bIns="0" rIns="0">
            <a:spAutoFit/>
          </a:bodyPr>
          <a:lstStyle/>
          <a:p>
            <a:pPr algn="l">
              <a:lnSpc>
                <a:spcPts val="2856"/>
              </a:lnSpc>
              <a:spcBef>
                <a:spcPct val="0"/>
              </a:spcBef>
            </a:pPr>
            <a:r>
              <a:rPr lang="en-US" b="true" sz="2380" spc="238">
                <a:solidFill>
                  <a:srgbClr val="000000"/>
                </a:solidFill>
                <a:latin typeface="Arimo Bold"/>
                <a:ea typeface="Arimo Bold"/>
                <a:cs typeface="Arimo Bold"/>
                <a:sym typeface="Arimo Bold"/>
              </a:rPr>
              <a:t>Why This Model Was Selected:</a:t>
            </a:r>
          </a:p>
          <a:p>
            <a:pPr algn="l">
              <a:lnSpc>
                <a:spcPts val="2856"/>
              </a:lnSpc>
            </a:pPr>
          </a:p>
          <a:p>
            <a:pPr algn="l" marL="514003" indent="-257002" lvl="1">
              <a:lnSpc>
                <a:spcPts val="2856"/>
              </a:lnSpc>
              <a:buFont typeface="Arial"/>
              <a:buChar char="•"/>
            </a:pPr>
            <a:r>
              <a:rPr lang="en-US" b="true" sz="2380" spc="238">
                <a:solidFill>
                  <a:srgbClr val="000000"/>
                </a:solidFill>
                <a:latin typeface="Arimo Bold"/>
                <a:ea typeface="Arimo Bold"/>
                <a:cs typeface="Arimo Bold"/>
                <a:sym typeface="Arimo Bold"/>
              </a:rPr>
              <a:t>It had the highest average AUC across all datasets.</a:t>
            </a:r>
          </a:p>
          <a:p>
            <a:pPr algn="l" marL="514003" indent="-257002" lvl="1">
              <a:lnSpc>
                <a:spcPts val="2856"/>
              </a:lnSpc>
              <a:buFont typeface="Arial"/>
              <a:buChar char="•"/>
            </a:pPr>
            <a:r>
              <a:rPr lang="en-US" b="true" sz="2380" spc="238">
                <a:solidFill>
                  <a:srgbClr val="000000"/>
                </a:solidFill>
                <a:latin typeface="Arimo Bold"/>
                <a:ea typeface="Arimo Bold"/>
                <a:cs typeface="Arimo Bold"/>
                <a:sym typeface="Arimo Bold"/>
              </a:rPr>
              <a:t>Its Test2 AUC (0.9400) ranked among the top, indicating strong out-of-sample performance.</a:t>
            </a:r>
          </a:p>
          <a:p>
            <a:pPr algn="l" marL="514003" indent="-257002" lvl="1">
              <a:lnSpc>
                <a:spcPts val="2856"/>
              </a:lnSpc>
              <a:buFont typeface="Arial"/>
              <a:buChar char="•"/>
            </a:pPr>
            <a:r>
              <a:rPr lang="en-US" b="true" sz="2380" spc="238">
                <a:solidFill>
                  <a:srgbClr val="000000"/>
                </a:solidFill>
                <a:latin typeface="Arimo Bold"/>
                <a:ea typeface="Arimo Bold"/>
                <a:cs typeface="Arimo Bold"/>
                <a:sym typeface="Arimo Bold"/>
              </a:rPr>
              <a:t>The model showed low variance, suggesting strong generalizability with minimal overfitting.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0" y="4662150"/>
            <a:ext cx="6220487" cy="962700"/>
          </a:xfrm>
          <a:custGeom>
            <a:avLst/>
            <a:gdLst/>
            <a:ahLst/>
            <a:cxnLst/>
            <a:rect r="r" b="b" t="t" l="l"/>
            <a:pathLst>
              <a:path h="962700" w="6220487">
                <a:moveTo>
                  <a:pt x="0" y="0"/>
                </a:moveTo>
                <a:lnTo>
                  <a:pt x="6220487" y="0"/>
                </a:lnTo>
                <a:lnTo>
                  <a:pt x="6220487" y="962700"/>
                </a:lnTo>
                <a:lnTo>
                  <a:pt x="0" y="962700"/>
                </a:lnTo>
                <a:lnTo>
                  <a:pt x="0" y="0"/>
                </a:lnTo>
                <a:close/>
              </a:path>
            </a:pathLst>
          </a:custGeom>
          <a:blipFill>
            <a:blip r:embed="rId3"/>
            <a:stretch>
              <a:fillRect l="0" t="0" r="0" b="-10196"/>
            </a:stretch>
          </a:blipFill>
        </p:spPr>
      </p:sp>
      <p:sp>
        <p:nvSpPr>
          <p:cNvPr name="Freeform 3" id="3"/>
          <p:cNvSpPr/>
          <p:nvPr/>
        </p:nvSpPr>
        <p:spPr>
          <a:xfrm flipH="false" flipV="false" rot="0">
            <a:off x="6474409" y="2684563"/>
            <a:ext cx="11025135" cy="6573737"/>
          </a:xfrm>
          <a:custGeom>
            <a:avLst/>
            <a:gdLst/>
            <a:ahLst/>
            <a:cxnLst/>
            <a:rect r="r" b="b" t="t" l="l"/>
            <a:pathLst>
              <a:path h="6573737" w="11025135">
                <a:moveTo>
                  <a:pt x="0" y="0"/>
                </a:moveTo>
                <a:lnTo>
                  <a:pt x="11025136" y="0"/>
                </a:lnTo>
                <a:lnTo>
                  <a:pt x="11025136" y="6573737"/>
                </a:lnTo>
                <a:lnTo>
                  <a:pt x="0" y="6573737"/>
                </a:lnTo>
                <a:lnTo>
                  <a:pt x="0" y="0"/>
                </a:lnTo>
                <a:close/>
              </a:path>
            </a:pathLst>
          </a:custGeom>
          <a:blipFill>
            <a:blip r:embed="rId4"/>
            <a:stretch>
              <a:fillRect l="0" t="0" r="0" b="0"/>
            </a:stretch>
          </a:blipFill>
        </p:spPr>
      </p:sp>
      <p:sp>
        <p:nvSpPr>
          <p:cNvPr name="TextBox 4" id="4"/>
          <p:cNvSpPr txBox="true"/>
          <p:nvPr/>
        </p:nvSpPr>
        <p:spPr>
          <a:xfrm rot="0">
            <a:off x="6068169" y="1019175"/>
            <a:ext cx="6345238"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XGBoost Rank Ordering graph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7884979" y="2234720"/>
            <a:ext cx="10108012" cy="7158725"/>
          </a:xfrm>
          <a:custGeom>
            <a:avLst/>
            <a:gdLst/>
            <a:ahLst/>
            <a:cxnLst/>
            <a:rect r="r" b="b" t="t" l="l"/>
            <a:pathLst>
              <a:path h="7158725" w="10108012">
                <a:moveTo>
                  <a:pt x="0" y="0"/>
                </a:moveTo>
                <a:lnTo>
                  <a:pt x="10108012" y="0"/>
                </a:lnTo>
                <a:lnTo>
                  <a:pt x="10108012" y="7158725"/>
                </a:lnTo>
                <a:lnTo>
                  <a:pt x="0" y="7158725"/>
                </a:lnTo>
                <a:lnTo>
                  <a:pt x="0" y="0"/>
                </a:lnTo>
                <a:close/>
              </a:path>
            </a:pathLst>
          </a:custGeom>
          <a:blipFill>
            <a:blip r:embed="rId3"/>
            <a:stretch>
              <a:fillRect l="0" t="0" r="0" b="0"/>
            </a:stretch>
          </a:blipFill>
        </p:spPr>
      </p:sp>
      <p:sp>
        <p:nvSpPr>
          <p:cNvPr name="TextBox 3" id="3"/>
          <p:cNvSpPr txBox="true"/>
          <p:nvPr/>
        </p:nvSpPr>
        <p:spPr>
          <a:xfrm rot="0">
            <a:off x="10526813" y="1294242"/>
            <a:ext cx="4330898"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SHAP Beeswarm Plot</a:t>
            </a:r>
          </a:p>
        </p:txBody>
      </p:sp>
      <p:sp>
        <p:nvSpPr>
          <p:cNvPr name="TextBox 4" id="4"/>
          <p:cNvSpPr txBox="true"/>
          <p:nvPr/>
        </p:nvSpPr>
        <p:spPr>
          <a:xfrm rot="0">
            <a:off x="660215" y="4791075"/>
            <a:ext cx="6805355" cy="4467225"/>
          </a:xfrm>
          <a:prstGeom prst="rect">
            <a:avLst/>
          </a:prstGeom>
        </p:spPr>
        <p:txBody>
          <a:bodyPr anchor="t" rtlCol="false" tIns="0" lIns="0" bIns="0" rIns="0">
            <a:spAutoFit/>
          </a:bodyPr>
          <a:lstStyle/>
          <a:p>
            <a:pPr algn="l">
              <a:lnSpc>
                <a:spcPts val="2999"/>
              </a:lnSpc>
              <a:spcBef>
                <a:spcPct val="0"/>
              </a:spcBef>
            </a:pPr>
            <a:r>
              <a:rPr lang="en-US" b="true" sz="2499" spc="249">
                <a:solidFill>
                  <a:srgbClr val="000000"/>
                </a:solidFill>
                <a:latin typeface="Arimo Bold"/>
                <a:ea typeface="Arimo Bold"/>
                <a:cs typeface="Arimo Bold"/>
                <a:sym typeface="Arimo Bold"/>
              </a:rPr>
              <a:t>T</a:t>
            </a:r>
            <a:r>
              <a:rPr lang="en-US" b="true" sz="2499" spc="249">
                <a:solidFill>
                  <a:srgbClr val="000000"/>
                </a:solidFill>
                <a:latin typeface="Arimo Bold"/>
                <a:ea typeface="Arimo Bold"/>
                <a:cs typeface="Arimo Bold"/>
                <a:sym typeface="Arimo Bold"/>
              </a:rPr>
              <a:t>op features are listed by importance (most impactful at the top) </a:t>
            </a:r>
          </a:p>
          <a:p>
            <a:pPr algn="l">
              <a:lnSpc>
                <a:spcPts val="2999"/>
              </a:lnSpc>
              <a:spcBef>
                <a:spcPct val="0"/>
              </a:spcBef>
            </a:pPr>
          </a:p>
          <a:p>
            <a:pPr algn="l">
              <a:lnSpc>
                <a:spcPts val="2999"/>
              </a:lnSpc>
              <a:spcBef>
                <a:spcPct val="0"/>
              </a:spcBef>
            </a:pPr>
            <a:r>
              <a:rPr lang="en-US" b="true" sz="2499" spc="249">
                <a:solidFill>
                  <a:srgbClr val="000000"/>
                </a:solidFill>
                <a:latin typeface="Arimo Bold"/>
                <a:ea typeface="Arimo Bold"/>
                <a:cs typeface="Arimo Bold"/>
                <a:sym typeface="Arimo Bold"/>
              </a:rPr>
              <a:t>SHAP values are on the X-axis (impact on model output: default risk) </a:t>
            </a:r>
          </a:p>
          <a:p>
            <a:pPr algn="l">
              <a:lnSpc>
                <a:spcPts val="2999"/>
              </a:lnSpc>
              <a:spcBef>
                <a:spcPct val="0"/>
              </a:spcBef>
            </a:pPr>
          </a:p>
          <a:p>
            <a:pPr algn="l">
              <a:lnSpc>
                <a:spcPts val="2999"/>
              </a:lnSpc>
              <a:spcBef>
                <a:spcPct val="0"/>
              </a:spcBef>
            </a:pPr>
            <a:r>
              <a:rPr lang="en-US" b="true" sz="2499" spc="249">
                <a:solidFill>
                  <a:srgbClr val="000000"/>
                </a:solidFill>
                <a:latin typeface="Arimo Bold"/>
                <a:ea typeface="Arimo Bold"/>
                <a:cs typeface="Arimo Bold"/>
                <a:sym typeface="Arimo Bold"/>
              </a:rPr>
              <a:t>Color gradient shows feature value (red = high, blue = low) </a:t>
            </a:r>
          </a:p>
          <a:p>
            <a:pPr algn="l">
              <a:lnSpc>
                <a:spcPts val="2999"/>
              </a:lnSpc>
              <a:spcBef>
                <a:spcPct val="0"/>
              </a:spcBef>
            </a:pPr>
          </a:p>
          <a:p>
            <a:pPr algn="l">
              <a:lnSpc>
                <a:spcPts val="2999"/>
              </a:lnSpc>
              <a:spcBef>
                <a:spcPct val="0"/>
              </a:spcBef>
            </a:pPr>
            <a:r>
              <a:rPr lang="en-US" b="true" sz="2499" spc="249">
                <a:solidFill>
                  <a:srgbClr val="000000"/>
                </a:solidFill>
                <a:latin typeface="Arimo Bold"/>
                <a:ea typeface="Arimo Bold"/>
                <a:cs typeface="Arimo Bold"/>
                <a:sym typeface="Arimo Bold"/>
              </a:rPr>
              <a:t>Spread shows the distribution of feature impact across all customers </a:t>
            </a:r>
          </a:p>
        </p:txBody>
      </p:sp>
      <p:sp>
        <p:nvSpPr>
          <p:cNvPr name="TextBox 5" id="5"/>
          <p:cNvSpPr txBox="true"/>
          <p:nvPr/>
        </p:nvSpPr>
        <p:spPr>
          <a:xfrm rot="0">
            <a:off x="413523" y="569018"/>
            <a:ext cx="6866817" cy="2628900"/>
          </a:xfrm>
          <a:prstGeom prst="rect">
            <a:avLst/>
          </a:prstGeom>
        </p:spPr>
        <p:txBody>
          <a:bodyPr anchor="t" rtlCol="false" tIns="0" lIns="0" bIns="0" rIns="0">
            <a:spAutoFit/>
          </a:bodyPr>
          <a:lstStyle/>
          <a:p>
            <a:pPr algn="ctr">
              <a:lnSpc>
                <a:spcPts val="3488"/>
              </a:lnSpc>
              <a:spcBef>
                <a:spcPct val="0"/>
              </a:spcBef>
            </a:pPr>
            <a:r>
              <a:rPr lang="en-US" b="true" sz="2907" spc="290">
                <a:solidFill>
                  <a:srgbClr val="ED3D3D"/>
                </a:solidFill>
                <a:latin typeface="Glacial Indifference Bold"/>
                <a:ea typeface="Glacial Indifference Bold"/>
                <a:cs typeface="Glacial Indifference Bold"/>
                <a:sym typeface="Glacial Indifference Bold"/>
              </a:rPr>
              <a:t>SHAP (SHapley Additive exPlanations) explains how much each feature contributed to a model’s prediction, making machine learning models more transparent and trustworthy.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937187"/>
            <a:ext cx="8132059" cy="5174023"/>
          </a:xfrm>
          <a:custGeom>
            <a:avLst/>
            <a:gdLst/>
            <a:ahLst/>
            <a:cxnLst/>
            <a:rect r="r" b="b" t="t" l="l"/>
            <a:pathLst>
              <a:path h="5174023" w="8132059">
                <a:moveTo>
                  <a:pt x="0" y="0"/>
                </a:moveTo>
                <a:lnTo>
                  <a:pt x="8132059" y="0"/>
                </a:lnTo>
                <a:lnTo>
                  <a:pt x="8132059" y="5174022"/>
                </a:lnTo>
                <a:lnTo>
                  <a:pt x="0" y="5174022"/>
                </a:lnTo>
                <a:lnTo>
                  <a:pt x="0" y="0"/>
                </a:lnTo>
                <a:close/>
              </a:path>
            </a:pathLst>
          </a:custGeom>
          <a:blipFill>
            <a:blip r:embed="rId3"/>
            <a:stretch>
              <a:fillRect l="0" t="0" r="0" b="0"/>
            </a:stretch>
          </a:blipFill>
        </p:spPr>
      </p:sp>
      <p:sp>
        <p:nvSpPr>
          <p:cNvPr name="Freeform 3" id="3"/>
          <p:cNvSpPr/>
          <p:nvPr/>
        </p:nvSpPr>
        <p:spPr>
          <a:xfrm flipH="false" flipV="false" rot="0">
            <a:off x="9436205" y="1802821"/>
            <a:ext cx="8063340" cy="5442754"/>
          </a:xfrm>
          <a:custGeom>
            <a:avLst/>
            <a:gdLst/>
            <a:ahLst/>
            <a:cxnLst/>
            <a:rect r="r" b="b" t="t" l="l"/>
            <a:pathLst>
              <a:path h="5442754" w="8063340">
                <a:moveTo>
                  <a:pt x="0" y="0"/>
                </a:moveTo>
                <a:lnTo>
                  <a:pt x="8063340" y="0"/>
                </a:lnTo>
                <a:lnTo>
                  <a:pt x="8063340" y="5442754"/>
                </a:lnTo>
                <a:lnTo>
                  <a:pt x="0" y="5442754"/>
                </a:lnTo>
                <a:lnTo>
                  <a:pt x="0" y="0"/>
                </a:lnTo>
                <a:close/>
              </a:path>
            </a:pathLst>
          </a:custGeom>
          <a:blipFill>
            <a:blip r:embed="rId4"/>
            <a:stretch>
              <a:fillRect l="0" t="0" r="0" b="0"/>
            </a:stretch>
          </a:blipFill>
        </p:spPr>
      </p:sp>
      <p:sp>
        <p:nvSpPr>
          <p:cNvPr name="TextBox 4" id="4"/>
          <p:cNvSpPr txBox="true"/>
          <p:nvPr/>
        </p:nvSpPr>
        <p:spPr>
          <a:xfrm rot="0">
            <a:off x="7147371" y="1019175"/>
            <a:ext cx="4186833"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SHAP Waterfall Plot</a:t>
            </a:r>
          </a:p>
        </p:txBody>
      </p:sp>
      <p:sp>
        <p:nvSpPr>
          <p:cNvPr name="TextBox 5" id="5"/>
          <p:cNvSpPr txBox="true"/>
          <p:nvPr/>
        </p:nvSpPr>
        <p:spPr>
          <a:xfrm rot="0">
            <a:off x="1526669" y="7558884"/>
            <a:ext cx="6739182" cy="1303001"/>
          </a:xfrm>
          <a:prstGeom prst="rect">
            <a:avLst/>
          </a:prstGeom>
        </p:spPr>
        <p:txBody>
          <a:bodyPr anchor="t" rtlCol="false" tIns="0" lIns="0" bIns="0" rIns="0">
            <a:spAutoFit/>
          </a:bodyPr>
          <a:lstStyle/>
          <a:p>
            <a:pPr algn="ctr">
              <a:lnSpc>
                <a:spcPts val="3419"/>
              </a:lnSpc>
            </a:pPr>
            <a:r>
              <a:rPr lang="en-US" b="true" sz="2849" spc="284">
                <a:solidFill>
                  <a:srgbClr val="000000"/>
                </a:solidFill>
                <a:latin typeface="Glacial Indifference Bold"/>
                <a:ea typeface="Glacial Indifference Bold"/>
                <a:cs typeface="Glacial Indifference Bold"/>
                <a:sym typeface="Glacial Indifference Bold"/>
              </a:rPr>
              <a:t>Low risk customer:</a:t>
            </a:r>
          </a:p>
          <a:p>
            <a:pPr algn="ctr">
              <a:lnSpc>
                <a:spcPts val="3419"/>
              </a:lnSpc>
              <a:spcBef>
                <a:spcPct val="0"/>
              </a:spcBef>
            </a:pPr>
            <a:r>
              <a:rPr lang="en-US" b="true" sz="2849" spc="284">
                <a:solidFill>
                  <a:srgbClr val="000000"/>
                </a:solidFill>
                <a:latin typeface="Glacial Indifference Bold"/>
                <a:ea typeface="Glacial Indifference Bold"/>
                <a:cs typeface="Glacial Indifference Bold"/>
                <a:sym typeface="Glacial Indifference Bold"/>
              </a:rPr>
              <a:t>Offer a higher credit limit to this customer confidently.</a:t>
            </a:r>
          </a:p>
        </p:txBody>
      </p:sp>
      <p:sp>
        <p:nvSpPr>
          <p:cNvPr name="TextBox 6" id="6"/>
          <p:cNvSpPr txBox="true"/>
          <p:nvPr/>
        </p:nvSpPr>
        <p:spPr>
          <a:xfrm rot="0">
            <a:off x="9240788" y="7583904"/>
            <a:ext cx="8310063" cy="1674396"/>
          </a:xfrm>
          <a:prstGeom prst="rect">
            <a:avLst/>
          </a:prstGeom>
        </p:spPr>
        <p:txBody>
          <a:bodyPr anchor="t" rtlCol="false" tIns="0" lIns="0" bIns="0" rIns="0">
            <a:spAutoFit/>
          </a:bodyPr>
          <a:lstStyle/>
          <a:p>
            <a:pPr algn="ctr">
              <a:lnSpc>
                <a:spcPts val="2621"/>
              </a:lnSpc>
            </a:pPr>
            <a:r>
              <a:rPr lang="en-US" b="true" sz="2184" spc="218">
                <a:solidFill>
                  <a:srgbClr val="000000"/>
                </a:solidFill>
                <a:latin typeface="Glacial Indifference Bold"/>
                <a:ea typeface="Glacial Indifference Bold"/>
                <a:cs typeface="Glacial Indifference Bold"/>
                <a:sym typeface="Glacial Indifference Bold"/>
              </a:rPr>
              <a:t>High risk customer:</a:t>
            </a:r>
          </a:p>
          <a:p>
            <a:pPr algn="ctr">
              <a:lnSpc>
                <a:spcPts val="2621"/>
              </a:lnSpc>
              <a:spcBef>
                <a:spcPct val="0"/>
              </a:spcBef>
            </a:pPr>
            <a:r>
              <a:rPr lang="en-US" b="true" sz="2184" spc="218">
                <a:solidFill>
                  <a:srgbClr val="000000"/>
                </a:solidFill>
                <a:latin typeface="Glacial Indifference Bold"/>
                <a:ea typeface="Glacial Indifference Bold"/>
                <a:cs typeface="Glacial Indifference Bold"/>
                <a:sym typeface="Glacial Indifference Bold"/>
              </a:rPr>
              <a:t>Do not approve this customer's credit application without significant additional checks.</a:t>
            </a:r>
          </a:p>
          <a:p>
            <a:pPr algn="ctr">
              <a:lnSpc>
                <a:spcPts val="2621"/>
              </a:lnSpc>
              <a:spcBef>
                <a:spcPct val="0"/>
              </a:spcBef>
            </a:pPr>
            <a:r>
              <a:rPr lang="en-US" b="true" sz="2184" spc="218">
                <a:solidFill>
                  <a:srgbClr val="000000"/>
                </a:solidFill>
                <a:latin typeface="Glacial Indifference Bold"/>
                <a:ea typeface="Glacial Indifference Bold"/>
                <a:cs typeface="Glacial Indifference Bold"/>
                <a:sym typeface="Glacial Indifference Bold"/>
              </a:rPr>
              <a:t>Possibly reject or offer a very low limit with strict monitoring.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DF2B"/>
        </a:solidFill>
      </p:bgPr>
    </p:bg>
    <p:spTree>
      <p:nvGrpSpPr>
        <p:cNvPr id="1" name=""/>
        <p:cNvGrpSpPr/>
        <p:nvPr/>
      </p:nvGrpSpPr>
      <p:grpSpPr>
        <a:xfrm>
          <a:off x="0" y="0"/>
          <a:ext cx="0" cy="0"/>
          <a:chOff x="0" y="0"/>
          <a:chExt cx="0" cy="0"/>
        </a:xfrm>
      </p:grpSpPr>
      <p:grpSp>
        <p:nvGrpSpPr>
          <p:cNvPr name="Group 2" id="2"/>
          <p:cNvGrpSpPr/>
          <p:nvPr/>
        </p:nvGrpSpPr>
        <p:grpSpPr>
          <a:xfrm rot="0">
            <a:off x="6418006" y="-118579"/>
            <a:ext cx="12196483" cy="10856994"/>
            <a:chOff x="0" y="0"/>
            <a:chExt cx="4125724" cy="3672613"/>
          </a:xfrm>
        </p:grpSpPr>
        <p:sp>
          <p:nvSpPr>
            <p:cNvPr name="Freeform 3" id="3"/>
            <p:cNvSpPr/>
            <p:nvPr/>
          </p:nvSpPr>
          <p:spPr>
            <a:xfrm flipH="false" flipV="false" rot="0">
              <a:off x="0" y="0"/>
              <a:ext cx="4125724" cy="3672613"/>
            </a:xfrm>
            <a:custGeom>
              <a:avLst/>
              <a:gdLst/>
              <a:ahLst/>
              <a:cxnLst/>
              <a:rect r="r" b="b" t="t" l="l"/>
              <a:pathLst>
                <a:path h="3672613" w="4125724">
                  <a:moveTo>
                    <a:pt x="0" y="0"/>
                  </a:moveTo>
                  <a:lnTo>
                    <a:pt x="4125724" y="0"/>
                  </a:lnTo>
                  <a:lnTo>
                    <a:pt x="4125724" y="3672613"/>
                  </a:lnTo>
                  <a:lnTo>
                    <a:pt x="0" y="3672613"/>
                  </a:lnTo>
                  <a:close/>
                </a:path>
              </a:pathLst>
            </a:custGeom>
            <a:solidFill>
              <a:srgbClr val="F5F5EF"/>
            </a:solidFill>
          </p:spPr>
        </p:sp>
      </p:grpSp>
      <p:sp>
        <p:nvSpPr>
          <p:cNvPr name="TextBox 4" id="4"/>
          <p:cNvSpPr txBox="true"/>
          <p:nvPr/>
        </p:nvSpPr>
        <p:spPr>
          <a:xfrm rot="0">
            <a:off x="529537" y="756909"/>
            <a:ext cx="5389306" cy="3908425"/>
          </a:xfrm>
          <a:prstGeom prst="rect">
            <a:avLst/>
          </a:prstGeom>
        </p:spPr>
        <p:txBody>
          <a:bodyPr anchor="t" rtlCol="false" tIns="0" lIns="0" bIns="0" rIns="0">
            <a:spAutoFit/>
          </a:bodyPr>
          <a:lstStyle/>
          <a:p>
            <a:pPr algn="ctr">
              <a:lnSpc>
                <a:spcPts val="7699"/>
              </a:lnSpc>
            </a:pPr>
            <a:r>
              <a:rPr lang="en-US" sz="6999">
                <a:solidFill>
                  <a:srgbClr val="000000"/>
                </a:solidFill>
                <a:latin typeface="Glacial Indifference"/>
                <a:ea typeface="Glacial Indifference"/>
                <a:cs typeface="Glacial Indifference"/>
                <a:sym typeface="Glacial Indifference"/>
              </a:rPr>
              <a:t>Ne</a:t>
            </a:r>
            <a:r>
              <a:rPr lang="en-US" sz="6999">
                <a:solidFill>
                  <a:srgbClr val="000000"/>
                </a:solidFill>
                <a:latin typeface="Glacial Indifference"/>
                <a:ea typeface="Glacial Indifference"/>
                <a:cs typeface="Glacial Indifference"/>
                <a:sym typeface="Glacial Indifference"/>
              </a:rPr>
              <a:t>ural Network  Data Pr</a:t>
            </a:r>
            <a:r>
              <a:rPr lang="en-US" sz="6999">
                <a:solidFill>
                  <a:srgbClr val="000000"/>
                </a:solidFill>
                <a:latin typeface="Glacial Indifference"/>
                <a:ea typeface="Glacial Indifference"/>
                <a:cs typeface="Glacial Indifference"/>
                <a:sym typeface="Glacial Indifference"/>
              </a:rPr>
              <a:t>eprocessing</a:t>
            </a:r>
          </a:p>
        </p:txBody>
      </p:sp>
      <p:sp>
        <p:nvSpPr>
          <p:cNvPr name="TextBox 5" id="5"/>
          <p:cNvSpPr txBox="true"/>
          <p:nvPr/>
        </p:nvSpPr>
        <p:spPr>
          <a:xfrm rot="0">
            <a:off x="175421" y="5729286"/>
            <a:ext cx="6097537" cy="3177456"/>
          </a:xfrm>
          <a:prstGeom prst="rect">
            <a:avLst/>
          </a:prstGeom>
        </p:spPr>
        <p:txBody>
          <a:bodyPr anchor="t" rtlCol="false" tIns="0" lIns="0" bIns="0" rIns="0">
            <a:spAutoFit/>
          </a:bodyPr>
          <a:lstStyle/>
          <a:p>
            <a:pPr algn="l" marL="604132" indent="-302066" lvl="1">
              <a:lnSpc>
                <a:spcPts val="4197"/>
              </a:lnSpc>
              <a:buFont typeface="Arial"/>
              <a:buChar char="•"/>
            </a:pPr>
            <a:r>
              <a:rPr lang="en-US" sz="2798" spc="111">
                <a:solidFill>
                  <a:srgbClr val="000000"/>
                </a:solidFill>
                <a:latin typeface="Open Sauce Light"/>
                <a:ea typeface="Open Sauce Light"/>
                <a:cs typeface="Open Sauce Light"/>
                <a:sym typeface="Open Sauce Light"/>
              </a:rPr>
              <a:t>Selected only the features that passed XGBoost-based feature selection</a:t>
            </a:r>
          </a:p>
          <a:p>
            <a:pPr algn="l" marL="604132" indent="-302066" lvl="1">
              <a:lnSpc>
                <a:spcPts val="4197"/>
              </a:lnSpc>
              <a:buFont typeface="Arial"/>
              <a:buChar char="•"/>
            </a:pPr>
            <a:r>
              <a:rPr lang="en-US" sz="2798" spc="111">
                <a:solidFill>
                  <a:srgbClr val="000000"/>
                </a:solidFill>
                <a:latin typeface="Open Sauce Light"/>
                <a:ea typeface="Open Sauce Light"/>
                <a:cs typeface="Open Sauce Light"/>
                <a:sym typeface="Open Sauce Light"/>
              </a:rPr>
              <a:t>Applied the following preprocessing steps:</a:t>
            </a:r>
          </a:p>
          <a:p>
            <a:pPr algn="l">
              <a:lnSpc>
                <a:spcPts val="4197"/>
              </a:lnSpc>
            </a:pPr>
          </a:p>
        </p:txBody>
      </p:sp>
      <p:sp>
        <p:nvSpPr>
          <p:cNvPr name="TextBox 6" id="6"/>
          <p:cNvSpPr txBox="true"/>
          <p:nvPr/>
        </p:nvSpPr>
        <p:spPr>
          <a:xfrm rot="0">
            <a:off x="6665689" y="252474"/>
            <a:ext cx="11071298" cy="5194866"/>
          </a:xfrm>
          <a:prstGeom prst="rect">
            <a:avLst/>
          </a:prstGeom>
        </p:spPr>
        <p:txBody>
          <a:bodyPr anchor="t" rtlCol="false" tIns="0" lIns="0" bIns="0" rIns="0">
            <a:spAutoFit/>
          </a:bodyPr>
          <a:lstStyle/>
          <a:p>
            <a:pPr algn="l">
              <a:lnSpc>
                <a:spcPts val="3453"/>
              </a:lnSpc>
            </a:pPr>
            <a:r>
              <a:rPr lang="en-US" sz="2302" spc="92">
                <a:solidFill>
                  <a:srgbClr val="000000"/>
                </a:solidFill>
                <a:latin typeface="Open Sauce Light"/>
                <a:ea typeface="Open Sauce Light"/>
                <a:cs typeface="Open Sauce Light"/>
                <a:sym typeface="Open Sauce Light"/>
              </a:rPr>
              <a:t>Missing Value Imputation:</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Replaced all NaN values with 0.</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Assumes missing = neutral value for neural net inputs.</a:t>
            </a:r>
          </a:p>
          <a:p>
            <a:pPr algn="l">
              <a:lnSpc>
                <a:spcPts val="3453"/>
              </a:lnSpc>
            </a:pPr>
          </a:p>
          <a:p>
            <a:pPr algn="l">
              <a:lnSpc>
                <a:spcPts val="3453"/>
              </a:lnSpc>
            </a:pPr>
            <a:r>
              <a:rPr lang="en-US" sz="2302" spc="92">
                <a:solidFill>
                  <a:srgbClr val="000000"/>
                </a:solidFill>
                <a:latin typeface="Open Sauce Light"/>
                <a:ea typeface="Open Sauce Light"/>
                <a:cs typeface="Open Sauce Light"/>
                <a:sym typeface="Open Sauce Light"/>
              </a:rPr>
              <a:t>Outlier Treatment:</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Applied capping and flooring at the 1st and 99th percentiles.</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Prevents extreme values from distorting learning.</a:t>
            </a:r>
          </a:p>
          <a:p>
            <a:pPr algn="l">
              <a:lnSpc>
                <a:spcPts val="3453"/>
              </a:lnSpc>
            </a:pPr>
          </a:p>
          <a:p>
            <a:pPr algn="l">
              <a:lnSpc>
                <a:spcPts val="3453"/>
              </a:lnSpc>
            </a:pPr>
            <a:r>
              <a:rPr lang="en-US" sz="2302" spc="92">
                <a:solidFill>
                  <a:srgbClr val="000000"/>
                </a:solidFill>
                <a:latin typeface="Open Sauce Light"/>
                <a:ea typeface="Open Sauce Light"/>
                <a:cs typeface="Open Sauce Light"/>
                <a:sym typeface="Open Sauce Light"/>
              </a:rPr>
              <a:t>Normalization:</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Used StandardScaler to standardize all features (mean = 0, std = 1).</a:t>
            </a:r>
          </a:p>
          <a:p>
            <a:pPr algn="l" marL="497086" indent="-248543" lvl="1">
              <a:lnSpc>
                <a:spcPts val="3453"/>
              </a:lnSpc>
              <a:buFont typeface="Arial"/>
              <a:buChar char="•"/>
            </a:pPr>
            <a:r>
              <a:rPr lang="en-US" sz="2302" spc="92">
                <a:solidFill>
                  <a:srgbClr val="000000"/>
                </a:solidFill>
                <a:latin typeface="Open Sauce Light"/>
                <a:ea typeface="Open Sauce Light"/>
                <a:cs typeface="Open Sauce Light"/>
                <a:sym typeface="Open Sauce Light"/>
              </a:rPr>
              <a:t>Ensures consistent scale for back propagation.</a:t>
            </a:r>
          </a:p>
          <a:p>
            <a:pPr algn="l">
              <a:lnSpc>
                <a:spcPts val="3453"/>
              </a:lnSpc>
            </a:pPr>
          </a:p>
        </p:txBody>
      </p:sp>
      <p:sp>
        <p:nvSpPr>
          <p:cNvPr name="Freeform 7" id="7"/>
          <p:cNvSpPr/>
          <p:nvPr/>
        </p:nvSpPr>
        <p:spPr>
          <a:xfrm flipH="false" flipV="false" rot="0">
            <a:off x="6665689" y="5643657"/>
            <a:ext cx="11267548" cy="4008517"/>
          </a:xfrm>
          <a:custGeom>
            <a:avLst/>
            <a:gdLst/>
            <a:ahLst/>
            <a:cxnLst/>
            <a:rect r="r" b="b" t="t" l="l"/>
            <a:pathLst>
              <a:path h="4008517" w="11267548">
                <a:moveTo>
                  <a:pt x="0" y="0"/>
                </a:moveTo>
                <a:lnTo>
                  <a:pt x="11267548" y="0"/>
                </a:lnTo>
                <a:lnTo>
                  <a:pt x="11267548" y="4008517"/>
                </a:lnTo>
                <a:lnTo>
                  <a:pt x="0" y="4008517"/>
                </a:lnTo>
                <a:lnTo>
                  <a:pt x="0" y="0"/>
                </a:lnTo>
                <a:close/>
              </a:path>
            </a:pathLst>
          </a:custGeom>
          <a:blipFill>
            <a:blip r:embed="rId2"/>
            <a:stretch>
              <a:fillRect l="0" t="0" r="0" b="-489"/>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DF2B"/>
        </a:solidFill>
      </p:bgPr>
    </p:bg>
    <p:spTree>
      <p:nvGrpSpPr>
        <p:cNvPr id="1" name=""/>
        <p:cNvGrpSpPr/>
        <p:nvPr/>
      </p:nvGrpSpPr>
      <p:grpSpPr>
        <a:xfrm>
          <a:off x="0" y="0"/>
          <a:ext cx="0" cy="0"/>
          <a:chOff x="0" y="0"/>
          <a:chExt cx="0" cy="0"/>
        </a:xfrm>
      </p:grpSpPr>
      <p:grpSp>
        <p:nvGrpSpPr>
          <p:cNvPr name="Group 2" id="2"/>
          <p:cNvGrpSpPr/>
          <p:nvPr/>
        </p:nvGrpSpPr>
        <p:grpSpPr>
          <a:xfrm rot="0">
            <a:off x="8472086" y="0"/>
            <a:ext cx="9815914" cy="10898953"/>
            <a:chOff x="0" y="0"/>
            <a:chExt cx="3235891" cy="3592923"/>
          </a:xfrm>
        </p:grpSpPr>
        <p:sp>
          <p:nvSpPr>
            <p:cNvPr name="Freeform 3" id="3"/>
            <p:cNvSpPr/>
            <p:nvPr/>
          </p:nvSpPr>
          <p:spPr>
            <a:xfrm flipH="false" flipV="false" rot="0">
              <a:off x="0" y="0"/>
              <a:ext cx="3235890" cy="3592923"/>
            </a:xfrm>
            <a:custGeom>
              <a:avLst/>
              <a:gdLst/>
              <a:ahLst/>
              <a:cxnLst/>
              <a:rect r="r" b="b" t="t" l="l"/>
              <a:pathLst>
                <a:path h="3592923" w="3235890">
                  <a:moveTo>
                    <a:pt x="0" y="0"/>
                  </a:moveTo>
                  <a:lnTo>
                    <a:pt x="3235890" y="0"/>
                  </a:lnTo>
                  <a:lnTo>
                    <a:pt x="3235890" y="3592923"/>
                  </a:lnTo>
                  <a:lnTo>
                    <a:pt x="0" y="3592923"/>
                  </a:lnTo>
                  <a:close/>
                </a:path>
              </a:pathLst>
            </a:custGeom>
            <a:solidFill>
              <a:srgbClr val="F5F5EF"/>
            </a:solidFill>
          </p:spPr>
        </p:sp>
      </p:grpSp>
      <p:sp>
        <p:nvSpPr>
          <p:cNvPr name="Freeform 4" id="4"/>
          <p:cNvSpPr/>
          <p:nvPr/>
        </p:nvSpPr>
        <p:spPr>
          <a:xfrm flipH="false" flipV="false" rot="0">
            <a:off x="313163" y="3889836"/>
            <a:ext cx="7898701" cy="5983266"/>
          </a:xfrm>
          <a:custGeom>
            <a:avLst/>
            <a:gdLst/>
            <a:ahLst/>
            <a:cxnLst/>
            <a:rect r="r" b="b" t="t" l="l"/>
            <a:pathLst>
              <a:path h="5983266" w="7898701">
                <a:moveTo>
                  <a:pt x="0" y="0"/>
                </a:moveTo>
                <a:lnTo>
                  <a:pt x="7898700" y="0"/>
                </a:lnTo>
                <a:lnTo>
                  <a:pt x="7898700" y="5983266"/>
                </a:lnTo>
                <a:lnTo>
                  <a:pt x="0" y="5983266"/>
                </a:lnTo>
                <a:lnTo>
                  <a:pt x="0" y="0"/>
                </a:lnTo>
                <a:close/>
              </a:path>
            </a:pathLst>
          </a:custGeom>
          <a:blipFill>
            <a:blip r:embed="rId2"/>
            <a:stretch>
              <a:fillRect l="0" t="0" r="0" b="0"/>
            </a:stretch>
          </a:blipFill>
        </p:spPr>
      </p:sp>
      <p:sp>
        <p:nvSpPr>
          <p:cNvPr name="Freeform 5" id="5"/>
          <p:cNvSpPr/>
          <p:nvPr/>
        </p:nvSpPr>
        <p:spPr>
          <a:xfrm flipH="false" flipV="false" rot="0">
            <a:off x="8642418" y="277540"/>
            <a:ext cx="9925208" cy="5644962"/>
          </a:xfrm>
          <a:custGeom>
            <a:avLst/>
            <a:gdLst/>
            <a:ahLst/>
            <a:cxnLst/>
            <a:rect r="r" b="b" t="t" l="l"/>
            <a:pathLst>
              <a:path h="5644962" w="9925208">
                <a:moveTo>
                  <a:pt x="0" y="0"/>
                </a:moveTo>
                <a:lnTo>
                  <a:pt x="9925208" y="0"/>
                </a:lnTo>
                <a:lnTo>
                  <a:pt x="9925208" y="5644962"/>
                </a:lnTo>
                <a:lnTo>
                  <a:pt x="0" y="5644962"/>
                </a:lnTo>
                <a:lnTo>
                  <a:pt x="0" y="0"/>
                </a:lnTo>
                <a:close/>
              </a:path>
            </a:pathLst>
          </a:custGeom>
          <a:blipFill>
            <a:blip r:embed="rId3"/>
            <a:stretch>
              <a:fillRect l="0" t="0" r="0" b="0"/>
            </a:stretch>
          </a:blipFill>
        </p:spPr>
      </p:sp>
      <p:sp>
        <p:nvSpPr>
          <p:cNvPr name="Freeform 6" id="6"/>
          <p:cNvSpPr/>
          <p:nvPr/>
        </p:nvSpPr>
        <p:spPr>
          <a:xfrm flipH="false" flipV="false" rot="0">
            <a:off x="8642418" y="6097356"/>
            <a:ext cx="6138672" cy="4189644"/>
          </a:xfrm>
          <a:custGeom>
            <a:avLst/>
            <a:gdLst/>
            <a:ahLst/>
            <a:cxnLst/>
            <a:rect r="r" b="b" t="t" l="l"/>
            <a:pathLst>
              <a:path h="4189644" w="6138672">
                <a:moveTo>
                  <a:pt x="0" y="0"/>
                </a:moveTo>
                <a:lnTo>
                  <a:pt x="6138673" y="0"/>
                </a:lnTo>
                <a:lnTo>
                  <a:pt x="6138673" y="4189644"/>
                </a:lnTo>
                <a:lnTo>
                  <a:pt x="0" y="4189644"/>
                </a:lnTo>
                <a:lnTo>
                  <a:pt x="0" y="0"/>
                </a:lnTo>
                <a:close/>
              </a:path>
            </a:pathLst>
          </a:custGeom>
          <a:blipFill>
            <a:blip r:embed="rId4"/>
            <a:stretch>
              <a:fillRect l="0" t="0" r="0" b="0"/>
            </a:stretch>
          </a:blipFill>
        </p:spPr>
      </p:sp>
      <p:sp>
        <p:nvSpPr>
          <p:cNvPr name="TextBox 7" id="7"/>
          <p:cNvSpPr txBox="true"/>
          <p:nvPr/>
        </p:nvSpPr>
        <p:spPr>
          <a:xfrm rot="0">
            <a:off x="313163" y="743979"/>
            <a:ext cx="7806891" cy="2936875"/>
          </a:xfrm>
          <a:prstGeom prst="rect">
            <a:avLst/>
          </a:prstGeom>
        </p:spPr>
        <p:txBody>
          <a:bodyPr anchor="t" rtlCol="false" tIns="0" lIns="0" bIns="0" rIns="0">
            <a:spAutoFit/>
          </a:bodyPr>
          <a:lstStyle/>
          <a:p>
            <a:pPr algn="ctr">
              <a:lnSpc>
                <a:spcPts val="7699"/>
              </a:lnSpc>
            </a:pPr>
            <a:r>
              <a:rPr lang="en-US" sz="6999">
                <a:solidFill>
                  <a:srgbClr val="000000"/>
                </a:solidFill>
                <a:latin typeface="Glacial Indifference"/>
                <a:ea typeface="Glacial Indifference"/>
                <a:cs typeface="Glacial Indifference"/>
                <a:sym typeface="Glacial Indifference"/>
              </a:rPr>
              <a:t>Ne</a:t>
            </a:r>
            <a:r>
              <a:rPr lang="en-US" sz="6999">
                <a:solidFill>
                  <a:srgbClr val="000000"/>
                </a:solidFill>
                <a:latin typeface="Glacial Indifference"/>
                <a:ea typeface="Glacial Indifference"/>
                <a:cs typeface="Glacial Indifference"/>
                <a:sym typeface="Glacial Indifference"/>
              </a:rPr>
              <a:t>ural Network  Grid Search </a:t>
            </a:r>
          </a:p>
          <a:p>
            <a:pPr algn="ctr">
              <a:lnSpc>
                <a:spcPts val="7700"/>
              </a:lnSpc>
            </a:pPr>
            <a:r>
              <a:rPr lang="en-US" sz="7000">
                <a:solidFill>
                  <a:srgbClr val="000000"/>
                </a:solidFill>
                <a:latin typeface="Glacial Indifference"/>
                <a:ea typeface="Glacial Indifference"/>
                <a:cs typeface="Glacial Indifference"/>
                <a:sym typeface="Glacial Indifference"/>
              </a:rPr>
              <a:t>Code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17499545" y="535253"/>
            <a:ext cx="493447" cy="493447"/>
            <a:chOff x="0" y="0"/>
            <a:chExt cx="657929" cy="657929"/>
          </a:xfrm>
        </p:grpSpPr>
        <p:grpSp>
          <p:nvGrpSpPr>
            <p:cNvPr name="Group 3" id="3"/>
            <p:cNvGrpSpPr>
              <a:grpSpLocks noChangeAspect="true"/>
            </p:cNvGrpSpPr>
            <p:nvPr/>
          </p:nvGrpSpPr>
          <p:grpSpPr>
            <a:xfrm rot="0">
              <a:off x="0" y="0"/>
              <a:ext cx="657929" cy="657929"/>
              <a:chOff x="0" y="0"/>
              <a:chExt cx="6355080" cy="6355080"/>
            </a:xfrm>
          </p:grpSpPr>
          <p:sp>
            <p:nvSpPr>
              <p:cNvPr name="Freeform 4" id="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0000"/>
              </a:solidFill>
            </p:spPr>
          </p:sp>
        </p:grpSp>
        <p:sp>
          <p:nvSpPr>
            <p:cNvPr name="Freeform 5" id="5"/>
            <p:cNvSpPr/>
            <p:nvPr/>
          </p:nvSpPr>
          <p:spPr>
            <a:xfrm flipH="false" flipV="false" rot="5400000">
              <a:off x="109655" y="109655"/>
              <a:ext cx="438619" cy="438619"/>
            </a:xfrm>
            <a:custGeom>
              <a:avLst/>
              <a:gdLst/>
              <a:ahLst/>
              <a:cxnLst/>
              <a:rect r="r" b="b" t="t" l="l"/>
              <a:pathLst>
                <a:path h="438619" w="438619">
                  <a:moveTo>
                    <a:pt x="0" y="0"/>
                  </a:moveTo>
                  <a:lnTo>
                    <a:pt x="438619" y="0"/>
                  </a:lnTo>
                  <a:lnTo>
                    <a:pt x="438619" y="438619"/>
                  </a:lnTo>
                  <a:lnTo>
                    <a:pt x="0" y="4386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6" id="6"/>
          <p:cNvSpPr/>
          <p:nvPr/>
        </p:nvSpPr>
        <p:spPr>
          <a:xfrm flipH="false" flipV="false" rot="0">
            <a:off x="0" y="7746447"/>
            <a:ext cx="2796644" cy="2384775"/>
          </a:xfrm>
          <a:custGeom>
            <a:avLst/>
            <a:gdLst/>
            <a:ahLst/>
            <a:cxnLst/>
            <a:rect r="r" b="b" t="t" l="l"/>
            <a:pathLst>
              <a:path h="2384775" w="2796644">
                <a:moveTo>
                  <a:pt x="0" y="0"/>
                </a:moveTo>
                <a:lnTo>
                  <a:pt x="2796644" y="0"/>
                </a:lnTo>
                <a:lnTo>
                  <a:pt x="2796644" y="2384775"/>
                </a:lnTo>
                <a:lnTo>
                  <a:pt x="0" y="23847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15296680" y="8385378"/>
            <a:ext cx="2991320" cy="1745843"/>
          </a:xfrm>
          <a:custGeom>
            <a:avLst/>
            <a:gdLst/>
            <a:ahLst/>
            <a:cxnLst/>
            <a:rect r="r" b="b" t="t" l="l"/>
            <a:pathLst>
              <a:path h="1745843" w="2991320">
                <a:moveTo>
                  <a:pt x="2991320" y="0"/>
                </a:moveTo>
                <a:lnTo>
                  <a:pt x="0" y="0"/>
                </a:lnTo>
                <a:lnTo>
                  <a:pt x="0" y="1745844"/>
                </a:lnTo>
                <a:lnTo>
                  <a:pt x="2991320" y="1745844"/>
                </a:lnTo>
                <a:lnTo>
                  <a:pt x="299132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98893" y="1865207"/>
            <a:ext cx="7609527" cy="5876246"/>
          </a:xfrm>
          <a:custGeom>
            <a:avLst/>
            <a:gdLst/>
            <a:ahLst/>
            <a:cxnLst/>
            <a:rect r="r" b="b" t="t" l="l"/>
            <a:pathLst>
              <a:path h="5876246" w="7609527">
                <a:moveTo>
                  <a:pt x="0" y="0"/>
                </a:moveTo>
                <a:lnTo>
                  <a:pt x="7609527" y="0"/>
                </a:lnTo>
                <a:lnTo>
                  <a:pt x="7609527" y="5876245"/>
                </a:lnTo>
                <a:lnTo>
                  <a:pt x="0" y="5876245"/>
                </a:lnTo>
                <a:lnTo>
                  <a:pt x="0" y="0"/>
                </a:lnTo>
                <a:close/>
              </a:path>
            </a:pathLst>
          </a:custGeom>
          <a:blipFill>
            <a:blip r:embed="rId8"/>
            <a:stretch>
              <a:fillRect l="0" t="0" r="0" b="0"/>
            </a:stretch>
          </a:blipFill>
        </p:spPr>
      </p:sp>
      <p:sp>
        <p:nvSpPr>
          <p:cNvPr name="Freeform 9" id="9"/>
          <p:cNvSpPr/>
          <p:nvPr/>
        </p:nvSpPr>
        <p:spPr>
          <a:xfrm flipH="false" flipV="false" rot="0">
            <a:off x="9438715" y="1865207"/>
            <a:ext cx="7609527" cy="5876246"/>
          </a:xfrm>
          <a:custGeom>
            <a:avLst/>
            <a:gdLst/>
            <a:ahLst/>
            <a:cxnLst/>
            <a:rect r="r" b="b" t="t" l="l"/>
            <a:pathLst>
              <a:path h="5876246" w="7609527">
                <a:moveTo>
                  <a:pt x="0" y="0"/>
                </a:moveTo>
                <a:lnTo>
                  <a:pt x="7609526" y="0"/>
                </a:lnTo>
                <a:lnTo>
                  <a:pt x="7609526" y="5876245"/>
                </a:lnTo>
                <a:lnTo>
                  <a:pt x="0" y="5876245"/>
                </a:lnTo>
                <a:lnTo>
                  <a:pt x="0" y="0"/>
                </a:lnTo>
                <a:close/>
              </a:path>
            </a:pathLst>
          </a:custGeom>
          <a:blipFill>
            <a:blip r:embed="rId9"/>
            <a:stretch>
              <a:fillRect l="0" t="0" r="0" b="0"/>
            </a:stretch>
          </a:blipFill>
        </p:spPr>
      </p:sp>
      <p:sp>
        <p:nvSpPr>
          <p:cNvPr name="TextBox 10" id="10"/>
          <p:cNvSpPr txBox="true"/>
          <p:nvPr/>
        </p:nvSpPr>
        <p:spPr>
          <a:xfrm rot="0">
            <a:off x="3948317" y="686727"/>
            <a:ext cx="9920204" cy="534554"/>
          </a:xfrm>
          <a:prstGeom prst="rect">
            <a:avLst/>
          </a:prstGeom>
        </p:spPr>
        <p:txBody>
          <a:bodyPr anchor="t" rtlCol="false" tIns="0" lIns="0" bIns="0" rIns="0">
            <a:spAutoFit/>
          </a:bodyPr>
          <a:lstStyle/>
          <a:p>
            <a:pPr algn="ctr">
              <a:lnSpc>
                <a:spcPts val="4500"/>
              </a:lnSpc>
            </a:pPr>
            <a:r>
              <a:rPr lang="en-US" sz="3000" spc="120">
                <a:solidFill>
                  <a:srgbClr val="000000"/>
                </a:solidFill>
                <a:latin typeface="Open Sauce Light"/>
                <a:ea typeface="Open Sauce Light"/>
                <a:cs typeface="Open Sauce Light"/>
                <a:sym typeface="Open Sauce Light"/>
              </a:rPr>
              <a:t>Neural Network Graphs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DF2B"/>
        </a:solidFill>
      </p:bgPr>
    </p:bg>
    <p:spTree>
      <p:nvGrpSpPr>
        <p:cNvPr id="1" name=""/>
        <p:cNvGrpSpPr/>
        <p:nvPr/>
      </p:nvGrpSpPr>
      <p:grpSpPr>
        <a:xfrm>
          <a:off x="0" y="0"/>
          <a:ext cx="0" cy="0"/>
          <a:chOff x="0" y="0"/>
          <a:chExt cx="0" cy="0"/>
        </a:xfrm>
      </p:grpSpPr>
      <p:grpSp>
        <p:nvGrpSpPr>
          <p:cNvPr name="Group 2" id="2"/>
          <p:cNvGrpSpPr/>
          <p:nvPr/>
        </p:nvGrpSpPr>
        <p:grpSpPr>
          <a:xfrm rot="0">
            <a:off x="8120054" y="0"/>
            <a:ext cx="10263196" cy="10621413"/>
            <a:chOff x="0" y="0"/>
            <a:chExt cx="3471748" cy="3592923"/>
          </a:xfrm>
        </p:grpSpPr>
        <p:sp>
          <p:nvSpPr>
            <p:cNvPr name="Freeform 3" id="3"/>
            <p:cNvSpPr/>
            <p:nvPr/>
          </p:nvSpPr>
          <p:spPr>
            <a:xfrm flipH="false" flipV="false" rot="0">
              <a:off x="0" y="0"/>
              <a:ext cx="3471748" cy="3592923"/>
            </a:xfrm>
            <a:custGeom>
              <a:avLst/>
              <a:gdLst/>
              <a:ahLst/>
              <a:cxnLst/>
              <a:rect r="r" b="b" t="t" l="l"/>
              <a:pathLst>
                <a:path h="3592923" w="3471748">
                  <a:moveTo>
                    <a:pt x="0" y="0"/>
                  </a:moveTo>
                  <a:lnTo>
                    <a:pt x="3471748" y="0"/>
                  </a:lnTo>
                  <a:lnTo>
                    <a:pt x="3471748" y="3592923"/>
                  </a:lnTo>
                  <a:lnTo>
                    <a:pt x="0" y="3592923"/>
                  </a:lnTo>
                  <a:close/>
                </a:path>
              </a:pathLst>
            </a:custGeom>
            <a:solidFill>
              <a:srgbClr val="F5F5EF"/>
            </a:solidFill>
          </p:spPr>
        </p:sp>
      </p:grpSp>
      <p:sp>
        <p:nvSpPr>
          <p:cNvPr name="Freeform 4" id="4"/>
          <p:cNvSpPr/>
          <p:nvPr/>
        </p:nvSpPr>
        <p:spPr>
          <a:xfrm flipH="false" flipV="false" rot="0">
            <a:off x="8359651" y="3633525"/>
            <a:ext cx="9275408" cy="2518341"/>
          </a:xfrm>
          <a:custGeom>
            <a:avLst/>
            <a:gdLst/>
            <a:ahLst/>
            <a:cxnLst/>
            <a:rect r="r" b="b" t="t" l="l"/>
            <a:pathLst>
              <a:path h="2518341" w="9275408">
                <a:moveTo>
                  <a:pt x="0" y="0"/>
                </a:moveTo>
                <a:lnTo>
                  <a:pt x="9275409" y="0"/>
                </a:lnTo>
                <a:lnTo>
                  <a:pt x="9275409" y="2518341"/>
                </a:lnTo>
                <a:lnTo>
                  <a:pt x="0" y="2518341"/>
                </a:lnTo>
                <a:lnTo>
                  <a:pt x="0" y="0"/>
                </a:lnTo>
                <a:close/>
              </a:path>
            </a:pathLst>
          </a:custGeom>
          <a:blipFill>
            <a:blip r:embed="rId2"/>
            <a:stretch>
              <a:fillRect l="0" t="-1639" r="0" b="-1639"/>
            </a:stretch>
          </a:blipFill>
        </p:spPr>
      </p:sp>
      <p:sp>
        <p:nvSpPr>
          <p:cNvPr name="TextBox 5" id="5"/>
          <p:cNvSpPr txBox="true"/>
          <p:nvPr/>
        </p:nvSpPr>
        <p:spPr>
          <a:xfrm rot="0">
            <a:off x="313163" y="3462422"/>
            <a:ext cx="7806891" cy="2917697"/>
          </a:xfrm>
          <a:prstGeom prst="rect">
            <a:avLst/>
          </a:prstGeom>
        </p:spPr>
        <p:txBody>
          <a:bodyPr anchor="t" rtlCol="false" tIns="0" lIns="0" bIns="0" rIns="0">
            <a:spAutoFit/>
          </a:bodyPr>
          <a:lstStyle/>
          <a:p>
            <a:pPr algn="l">
              <a:lnSpc>
                <a:spcPts val="7700"/>
              </a:lnSpc>
            </a:pPr>
            <a:r>
              <a:rPr lang="en-US" sz="7000">
                <a:solidFill>
                  <a:srgbClr val="000000"/>
                </a:solidFill>
                <a:latin typeface="Glacial Indifference"/>
                <a:ea typeface="Glacial Indifference"/>
                <a:cs typeface="Glacial Indifference"/>
                <a:sym typeface="Glacial Indifference"/>
              </a:rPr>
              <a:t>Ne</a:t>
            </a:r>
            <a:r>
              <a:rPr lang="en-US" sz="7000">
                <a:solidFill>
                  <a:srgbClr val="000000"/>
                </a:solidFill>
                <a:latin typeface="Glacial Indifference"/>
                <a:ea typeface="Glacial Indifference"/>
                <a:cs typeface="Glacial Indifference"/>
                <a:sym typeface="Glacial Indifference"/>
              </a:rPr>
              <a:t>ural Network – Grid Search </a:t>
            </a:r>
          </a:p>
          <a:p>
            <a:pPr algn="l">
              <a:lnSpc>
                <a:spcPts val="7700"/>
              </a:lnSpc>
            </a:pPr>
            <a:r>
              <a:rPr lang="en-US" sz="7000">
                <a:solidFill>
                  <a:srgbClr val="000000"/>
                </a:solidFill>
                <a:latin typeface="Glacial Indifference"/>
                <a:ea typeface="Glacial Indifference"/>
                <a:cs typeface="Glacial Indifference"/>
                <a:sym typeface="Glacial Indifference"/>
              </a:rPr>
              <a:t>Output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0" y="7746447"/>
            <a:ext cx="2796644" cy="2384775"/>
          </a:xfrm>
          <a:custGeom>
            <a:avLst/>
            <a:gdLst/>
            <a:ahLst/>
            <a:cxnLst/>
            <a:rect r="r" b="b" t="t" l="l"/>
            <a:pathLst>
              <a:path h="2384775" w="2796644">
                <a:moveTo>
                  <a:pt x="0" y="0"/>
                </a:moveTo>
                <a:lnTo>
                  <a:pt x="2796644" y="0"/>
                </a:lnTo>
                <a:lnTo>
                  <a:pt x="2796644" y="2384775"/>
                </a:lnTo>
                <a:lnTo>
                  <a:pt x="0" y="2384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836219" y="348359"/>
            <a:ext cx="2991320" cy="1745843"/>
          </a:xfrm>
          <a:custGeom>
            <a:avLst/>
            <a:gdLst/>
            <a:ahLst/>
            <a:cxnLst/>
            <a:rect r="r" b="b" t="t" l="l"/>
            <a:pathLst>
              <a:path h="1745843" w="2991320">
                <a:moveTo>
                  <a:pt x="2991320" y="0"/>
                </a:moveTo>
                <a:lnTo>
                  <a:pt x="0" y="0"/>
                </a:lnTo>
                <a:lnTo>
                  <a:pt x="0" y="1745843"/>
                </a:lnTo>
                <a:lnTo>
                  <a:pt x="2991320" y="1745843"/>
                </a:lnTo>
                <a:lnTo>
                  <a:pt x="299132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8322" y="2928912"/>
            <a:ext cx="7209280" cy="5298821"/>
          </a:xfrm>
          <a:custGeom>
            <a:avLst/>
            <a:gdLst/>
            <a:ahLst/>
            <a:cxnLst/>
            <a:rect r="r" b="b" t="t" l="l"/>
            <a:pathLst>
              <a:path h="5298821" w="7209280">
                <a:moveTo>
                  <a:pt x="0" y="0"/>
                </a:moveTo>
                <a:lnTo>
                  <a:pt x="7209280" y="0"/>
                </a:lnTo>
                <a:lnTo>
                  <a:pt x="7209280" y="5298821"/>
                </a:lnTo>
                <a:lnTo>
                  <a:pt x="0" y="5298821"/>
                </a:lnTo>
                <a:lnTo>
                  <a:pt x="0" y="0"/>
                </a:lnTo>
                <a:close/>
              </a:path>
            </a:pathLst>
          </a:custGeom>
          <a:blipFill>
            <a:blip r:embed="rId6"/>
            <a:stretch>
              <a:fillRect l="0" t="0" r="0" b="0"/>
            </a:stretch>
          </a:blipFill>
        </p:spPr>
      </p:sp>
      <p:sp>
        <p:nvSpPr>
          <p:cNvPr name="TextBox 5" id="5"/>
          <p:cNvSpPr txBox="true"/>
          <p:nvPr/>
        </p:nvSpPr>
        <p:spPr>
          <a:xfrm rot="0">
            <a:off x="3647500" y="330682"/>
            <a:ext cx="9920204" cy="1123950"/>
          </a:xfrm>
          <a:prstGeom prst="rect">
            <a:avLst/>
          </a:prstGeom>
        </p:spPr>
        <p:txBody>
          <a:bodyPr anchor="t" rtlCol="false" tIns="0" lIns="0" bIns="0" rIns="0">
            <a:spAutoFit/>
          </a:bodyPr>
          <a:lstStyle/>
          <a:p>
            <a:pPr algn="ctr">
              <a:lnSpc>
                <a:spcPts val="4500"/>
              </a:lnSpc>
            </a:pPr>
            <a:r>
              <a:rPr lang="en-US" b="true" sz="3000" spc="120">
                <a:solidFill>
                  <a:srgbClr val="000000"/>
                </a:solidFill>
                <a:latin typeface="Open Sauce Bold"/>
                <a:ea typeface="Open Sauce Bold"/>
                <a:cs typeface="Open Sauce Bold"/>
                <a:sym typeface="Open Sauce Bold"/>
              </a:rPr>
              <a:t>Neural Network – Grid Search Setup &amp; Execution</a:t>
            </a:r>
          </a:p>
        </p:txBody>
      </p:sp>
      <p:sp>
        <p:nvSpPr>
          <p:cNvPr name="TextBox 6" id="6"/>
          <p:cNvSpPr txBox="true"/>
          <p:nvPr/>
        </p:nvSpPr>
        <p:spPr>
          <a:xfrm rot="0">
            <a:off x="909368" y="1692757"/>
            <a:ext cx="13148146" cy="923925"/>
          </a:xfrm>
          <a:prstGeom prst="rect">
            <a:avLst/>
          </a:prstGeom>
        </p:spPr>
        <p:txBody>
          <a:bodyPr anchor="t" rtlCol="false" tIns="0" lIns="0" bIns="0" rIns="0">
            <a:spAutoFit/>
          </a:bodyPr>
          <a:lstStyle/>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Conducted a grid search over 16 neural network configurations.</a:t>
            </a:r>
          </a:p>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Evaluated each model on Train, Test1, and Test2 using AUC as the performance metric.</a:t>
            </a:r>
          </a:p>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The objective: find a model that balances high predictive power with low variance.</a:t>
            </a:r>
          </a:p>
        </p:txBody>
      </p:sp>
      <p:sp>
        <p:nvSpPr>
          <p:cNvPr name="TextBox 7" id="7"/>
          <p:cNvSpPr txBox="true"/>
          <p:nvPr/>
        </p:nvSpPr>
        <p:spPr>
          <a:xfrm rot="0">
            <a:off x="9144000" y="3141653"/>
            <a:ext cx="7093806" cy="2143125"/>
          </a:xfrm>
          <a:prstGeom prst="rect">
            <a:avLst/>
          </a:prstGeom>
        </p:spPr>
        <p:txBody>
          <a:bodyPr anchor="t" rtlCol="false" tIns="0" lIns="0" bIns="0" rIns="0">
            <a:spAutoFit/>
          </a:bodyPr>
          <a:lstStyle/>
          <a:p>
            <a:pPr algn="l">
              <a:lnSpc>
                <a:spcPts val="2400"/>
              </a:lnSpc>
              <a:spcBef>
                <a:spcPct val="0"/>
              </a:spcBef>
            </a:pPr>
            <a:r>
              <a:rPr lang="en-US" sz="2000" spc="200">
                <a:solidFill>
                  <a:srgbClr val="000000"/>
                </a:solidFill>
                <a:latin typeface="Open Sauce"/>
                <a:ea typeface="Open Sauce"/>
                <a:cs typeface="Open Sauce"/>
                <a:sym typeface="Open Sauce"/>
              </a:rPr>
              <a:t>Observations from Grid Search:</a:t>
            </a:r>
          </a:p>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ReLU activation generally outperformed Tanh.</a:t>
            </a:r>
          </a:p>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Smaller batch size (100) led to more stable and generalizable models.</a:t>
            </a:r>
          </a:p>
          <a:p>
            <a:pPr algn="l" marL="431801" indent="-215900" lvl="1">
              <a:lnSpc>
                <a:spcPts val="2400"/>
              </a:lnSpc>
              <a:buFont typeface="Arial"/>
              <a:buChar char="•"/>
            </a:pPr>
            <a:r>
              <a:rPr lang="en-US" sz="2000" spc="200">
                <a:solidFill>
                  <a:srgbClr val="000000"/>
                </a:solidFill>
                <a:latin typeface="Open Sauce"/>
                <a:ea typeface="Open Sauce"/>
                <a:cs typeface="Open Sauce"/>
                <a:sym typeface="Open Sauce"/>
              </a:rPr>
              <a:t>Models with dropout (50%) avoided overfitting better on deeper networks.</a:t>
            </a:r>
          </a:p>
        </p:txBody>
      </p:sp>
      <p:sp>
        <p:nvSpPr>
          <p:cNvPr name="TextBox 8" id="8"/>
          <p:cNvSpPr txBox="true"/>
          <p:nvPr/>
        </p:nvSpPr>
        <p:spPr>
          <a:xfrm rot="0">
            <a:off x="9144000" y="5399078"/>
            <a:ext cx="7392655" cy="2045970"/>
          </a:xfrm>
          <a:prstGeom prst="rect">
            <a:avLst/>
          </a:prstGeom>
        </p:spPr>
        <p:txBody>
          <a:bodyPr anchor="t" rtlCol="false" tIns="0" lIns="0" bIns="0" rIns="0">
            <a:spAutoFit/>
          </a:bodyPr>
          <a:lstStyle/>
          <a:p>
            <a:pPr algn="l">
              <a:lnSpc>
                <a:spcPts val="2700"/>
              </a:lnSpc>
            </a:pPr>
            <a:r>
              <a:rPr lang="en-US" sz="1800" spc="72">
                <a:solidFill>
                  <a:srgbClr val="000000"/>
                </a:solidFill>
                <a:latin typeface="Open Sauce"/>
                <a:ea typeface="Open Sauce"/>
                <a:cs typeface="Open Sauce"/>
                <a:sym typeface="Open Sauce"/>
              </a:rPr>
              <a:t>For each model configuration, we calculated:</a:t>
            </a:r>
          </a:p>
          <a:p>
            <a:pPr algn="l">
              <a:lnSpc>
                <a:spcPts val="2700"/>
              </a:lnSpc>
            </a:pPr>
          </a:p>
          <a:p>
            <a:pPr algn="l" marL="388620" indent="-194310" lvl="1">
              <a:lnSpc>
                <a:spcPts val="2700"/>
              </a:lnSpc>
              <a:buFont typeface="Arial"/>
              <a:buChar char="•"/>
            </a:pPr>
            <a:r>
              <a:rPr lang="en-US" sz="1800" spc="72">
                <a:solidFill>
                  <a:srgbClr val="000000"/>
                </a:solidFill>
                <a:latin typeface="Open Sauce"/>
                <a:ea typeface="Open Sauce"/>
                <a:cs typeface="Open Sauce"/>
                <a:sym typeface="Open Sauce"/>
              </a:rPr>
              <a:t>Models were ranked by:</a:t>
            </a:r>
          </a:p>
          <a:p>
            <a:pPr algn="l" marL="388620" indent="-194310" lvl="1">
              <a:lnSpc>
                <a:spcPts val="2700"/>
              </a:lnSpc>
              <a:buFont typeface="Arial"/>
              <a:buChar char="•"/>
            </a:pPr>
            <a:r>
              <a:rPr lang="en-US" sz="1800" spc="72">
                <a:solidFill>
                  <a:srgbClr val="000000"/>
                </a:solidFill>
                <a:latin typeface="Open Sauce"/>
                <a:ea typeface="Open Sauce"/>
                <a:cs typeface="Open Sauce"/>
                <a:sym typeface="Open Sauce"/>
              </a:rPr>
              <a:t>Highest AUC Average (strongest overall performance)</a:t>
            </a:r>
          </a:p>
          <a:p>
            <a:pPr algn="l" marL="388620" indent="-194310" lvl="1">
              <a:lnSpc>
                <a:spcPts val="2700"/>
              </a:lnSpc>
              <a:buFont typeface="Arial"/>
              <a:buChar char="•"/>
            </a:pPr>
            <a:r>
              <a:rPr lang="en-US" sz="1800" spc="72">
                <a:solidFill>
                  <a:srgbClr val="000000"/>
                </a:solidFill>
                <a:latin typeface="Open Sauce"/>
                <a:ea typeface="Open Sauce"/>
                <a:cs typeface="Open Sauce"/>
                <a:sym typeface="Open Sauce"/>
              </a:rPr>
              <a:t>Lowest AUC Std Dev (lowest variance across datasets)</a:t>
            </a:r>
          </a:p>
          <a:p>
            <a:pPr algn="l">
              <a:lnSpc>
                <a:spcPts val="2700"/>
              </a:lnSpc>
            </a:pPr>
          </a:p>
        </p:txBody>
      </p:sp>
      <p:sp>
        <p:nvSpPr>
          <p:cNvPr name="TextBox 9" id="9"/>
          <p:cNvSpPr txBox="true"/>
          <p:nvPr/>
        </p:nvSpPr>
        <p:spPr>
          <a:xfrm rot="0">
            <a:off x="9144000" y="7736922"/>
            <a:ext cx="8115300" cy="2143125"/>
          </a:xfrm>
          <a:prstGeom prst="rect">
            <a:avLst/>
          </a:prstGeom>
        </p:spPr>
        <p:txBody>
          <a:bodyPr anchor="t" rtlCol="false" tIns="0" lIns="0" bIns="0" rIns="0">
            <a:spAutoFit/>
          </a:bodyPr>
          <a:lstStyle/>
          <a:p>
            <a:pPr algn="just">
              <a:lnSpc>
                <a:spcPts val="2400"/>
              </a:lnSpc>
            </a:pPr>
            <a:r>
              <a:rPr lang="en-US" sz="2000" spc="200">
                <a:solidFill>
                  <a:srgbClr val="000000"/>
                </a:solidFill>
                <a:latin typeface="Open Sauce"/>
                <a:ea typeface="Open Sauce"/>
                <a:cs typeface="Open Sauce"/>
                <a:sym typeface="Open Sauce"/>
              </a:rPr>
              <a:t>Why This Model Was Chosen:</a:t>
            </a:r>
          </a:p>
          <a:p>
            <a:pPr algn="just" marL="431801" indent="-215900" lvl="1">
              <a:lnSpc>
                <a:spcPts val="2400"/>
              </a:lnSpc>
              <a:buFont typeface="Arial"/>
              <a:buChar char="•"/>
            </a:pPr>
            <a:r>
              <a:rPr lang="en-US" sz="2000" spc="200">
                <a:solidFill>
                  <a:srgbClr val="000000"/>
                </a:solidFill>
                <a:latin typeface="Open Sauce"/>
                <a:ea typeface="Open Sauce"/>
                <a:cs typeface="Open Sauce"/>
                <a:sym typeface="Open Sauce"/>
              </a:rPr>
              <a:t>Balanced strong predictive power with low variance.</a:t>
            </a:r>
          </a:p>
          <a:p>
            <a:pPr algn="just" marL="431801" indent="-215900" lvl="1">
              <a:lnSpc>
                <a:spcPts val="2400"/>
              </a:lnSpc>
              <a:buFont typeface="Arial"/>
              <a:buChar char="•"/>
            </a:pPr>
            <a:r>
              <a:rPr lang="en-US" sz="2000" spc="200">
                <a:solidFill>
                  <a:srgbClr val="000000"/>
                </a:solidFill>
                <a:latin typeface="Open Sauce"/>
                <a:ea typeface="Open Sauce"/>
                <a:cs typeface="Open Sauce"/>
                <a:sym typeface="Open Sauce"/>
              </a:rPr>
              <a:t>Generalized well across all three samples (Train, Test1, Test2).</a:t>
            </a:r>
          </a:p>
          <a:p>
            <a:pPr algn="just" marL="431801" indent="-215900" lvl="1">
              <a:lnSpc>
                <a:spcPts val="2400"/>
              </a:lnSpc>
              <a:buFont typeface="Arial"/>
              <a:buChar char="•"/>
            </a:pPr>
            <a:r>
              <a:rPr lang="en-US" sz="2000" spc="200">
                <a:solidFill>
                  <a:srgbClr val="000000"/>
                </a:solidFill>
                <a:latin typeface="Open Sauce"/>
                <a:ea typeface="Open Sauce"/>
                <a:cs typeface="Open Sauce"/>
                <a:sym typeface="Open Sauce"/>
              </a:rPr>
              <a:t>Served as a competitive alternative to the XGBoost model.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690800" y="3824418"/>
            <a:ext cx="9554968" cy="5697150"/>
          </a:xfrm>
          <a:custGeom>
            <a:avLst/>
            <a:gdLst/>
            <a:ahLst/>
            <a:cxnLst/>
            <a:rect r="r" b="b" t="t" l="l"/>
            <a:pathLst>
              <a:path h="5697150" w="9554968">
                <a:moveTo>
                  <a:pt x="0" y="0"/>
                </a:moveTo>
                <a:lnTo>
                  <a:pt x="9554967" y="0"/>
                </a:lnTo>
                <a:lnTo>
                  <a:pt x="9554967" y="5697150"/>
                </a:lnTo>
                <a:lnTo>
                  <a:pt x="0" y="5697150"/>
                </a:lnTo>
                <a:lnTo>
                  <a:pt x="0" y="0"/>
                </a:lnTo>
                <a:close/>
              </a:path>
            </a:pathLst>
          </a:custGeom>
          <a:blipFill>
            <a:blip r:embed="rId2"/>
            <a:stretch>
              <a:fillRect l="0" t="0" r="0" b="0"/>
            </a:stretch>
          </a:blipFill>
        </p:spPr>
      </p:sp>
      <p:sp>
        <p:nvSpPr>
          <p:cNvPr name="TextBox 3" id="3"/>
          <p:cNvSpPr txBox="true"/>
          <p:nvPr/>
        </p:nvSpPr>
        <p:spPr>
          <a:xfrm rot="0">
            <a:off x="4253843" y="561975"/>
            <a:ext cx="9780315"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Neural Network – Final Model &amp; Rank Ordering</a:t>
            </a:r>
          </a:p>
        </p:txBody>
      </p:sp>
      <p:sp>
        <p:nvSpPr>
          <p:cNvPr name="TextBox 4" id="4"/>
          <p:cNvSpPr txBox="true"/>
          <p:nvPr/>
        </p:nvSpPr>
        <p:spPr>
          <a:xfrm rot="0">
            <a:off x="690800" y="1816959"/>
            <a:ext cx="16118529" cy="1447800"/>
          </a:xfrm>
          <a:prstGeom prst="rect">
            <a:avLst/>
          </a:prstGeom>
        </p:spPr>
        <p:txBody>
          <a:bodyPr anchor="t" rtlCol="false" tIns="0" lIns="0" bIns="0" rIns="0">
            <a:spAutoFit/>
          </a:bodyPr>
          <a:lstStyle/>
          <a:p>
            <a:pPr algn="l">
              <a:lnSpc>
                <a:spcPts val="2879"/>
              </a:lnSpc>
              <a:spcBef>
                <a:spcPct val="0"/>
              </a:spcBef>
            </a:pPr>
            <a:r>
              <a:rPr lang="en-US" sz="2399" spc="239">
                <a:solidFill>
                  <a:srgbClr val="000000"/>
                </a:solidFill>
                <a:latin typeface="Open Sauce"/>
                <a:ea typeface="Open Sauce"/>
                <a:cs typeface="Open Sauce"/>
                <a:sym typeface="Open Sauce"/>
              </a:rPr>
              <a:t>Final Neural Network retrained using best hyperparameters:</a:t>
            </a:r>
          </a:p>
          <a:p>
            <a:pPr algn="l" marL="518158" indent="-259079" lvl="1">
              <a:lnSpc>
                <a:spcPts val="2879"/>
              </a:lnSpc>
              <a:buFont typeface="Arial"/>
              <a:buChar char="•"/>
            </a:pPr>
            <a:r>
              <a:rPr lang="en-US" sz="2399" spc="239">
                <a:solidFill>
                  <a:srgbClr val="000000"/>
                </a:solidFill>
                <a:latin typeface="Open Sauce"/>
                <a:ea typeface="Open Sauce"/>
                <a:cs typeface="Open Sauce"/>
                <a:sym typeface="Open Sauce"/>
              </a:rPr>
              <a:t>2 Hidden Layers, 6 Neurons per Layer</a:t>
            </a:r>
          </a:p>
          <a:p>
            <a:pPr algn="l" marL="518158" indent="-259079" lvl="1">
              <a:lnSpc>
                <a:spcPts val="2879"/>
              </a:lnSpc>
              <a:buFont typeface="Arial"/>
              <a:buChar char="•"/>
            </a:pPr>
            <a:r>
              <a:rPr lang="en-US" sz="2399" spc="239">
                <a:solidFill>
                  <a:srgbClr val="000000"/>
                </a:solidFill>
                <a:latin typeface="Open Sauce"/>
                <a:ea typeface="Open Sauce"/>
                <a:cs typeface="Open Sauce"/>
                <a:sym typeface="Open Sauce"/>
              </a:rPr>
              <a:t>ReLU activation, Dropout = 50%</a:t>
            </a:r>
          </a:p>
          <a:p>
            <a:pPr algn="l" marL="518158" indent="-259079" lvl="1">
              <a:lnSpc>
                <a:spcPts val="2879"/>
              </a:lnSpc>
              <a:buFont typeface="Arial"/>
              <a:buChar char="•"/>
            </a:pPr>
            <a:r>
              <a:rPr lang="en-US" sz="2399" spc="239">
                <a:solidFill>
                  <a:srgbClr val="000000"/>
                </a:solidFill>
                <a:latin typeface="Open Sauce"/>
                <a:ea typeface="Open Sauce"/>
                <a:cs typeface="Open Sauce"/>
                <a:sym typeface="Open Sauce"/>
              </a:rPr>
              <a:t>Batch Size = 100, Epochs = 20</a:t>
            </a:r>
          </a:p>
        </p:txBody>
      </p:sp>
      <p:sp>
        <p:nvSpPr>
          <p:cNvPr name="TextBox 5" id="5"/>
          <p:cNvSpPr txBox="true"/>
          <p:nvPr/>
        </p:nvSpPr>
        <p:spPr>
          <a:xfrm rot="0">
            <a:off x="11313163" y="5215668"/>
            <a:ext cx="5441989" cy="2914650"/>
          </a:xfrm>
          <a:prstGeom prst="rect">
            <a:avLst/>
          </a:prstGeom>
        </p:spPr>
        <p:txBody>
          <a:bodyPr anchor="t" rtlCol="false" tIns="0" lIns="0" bIns="0" rIns="0">
            <a:spAutoFit/>
          </a:bodyPr>
          <a:lstStyle/>
          <a:p>
            <a:pPr algn="l">
              <a:lnSpc>
                <a:spcPts val="2610"/>
              </a:lnSpc>
              <a:spcBef>
                <a:spcPct val="0"/>
              </a:spcBef>
            </a:pPr>
            <a:r>
              <a:rPr lang="en-US" sz="2175" spc="217">
                <a:solidFill>
                  <a:srgbClr val="000000"/>
                </a:solidFill>
                <a:latin typeface="Open Sauce"/>
                <a:ea typeface="Open Sauce"/>
                <a:cs typeface="Open Sauce"/>
                <a:sym typeface="Open Sauce"/>
              </a:rPr>
              <a:t>What It Shows:</a:t>
            </a:r>
          </a:p>
          <a:p>
            <a:pPr algn="l" marL="469660" indent="-234830" lvl="1">
              <a:lnSpc>
                <a:spcPts val="2610"/>
              </a:lnSpc>
              <a:buFont typeface="Arial"/>
              <a:buChar char="•"/>
            </a:pPr>
            <a:r>
              <a:rPr lang="en-US" sz="2175" spc="217">
                <a:solidFill>
                  <a:srgbClr val="000000"/>
                </a:solidFill>
                <a:latin typeface="Open Sauce"/>
                <a:ea typeface="Open Sauce"/>
                <a:cs typeface="Open Sauce"/>
                <a:sym typeface="Open Sauce"/>
              </a:rPr>
              <a:t>Default rate increased consistently with predicted score.</a:t>
            </a:r>
          </a:p>
          <a:p>
            <a:pPr algn="l" marL="469660" indent="-234830" lvl="1">
              <a:lnSpc>
                <a:spcPts val="2610"/>
              </a:lnSpc>
              <a:buFont typeface="Arial"/>
              <a:buChar char="•"/>
            </a:pPr>
            <a:r>
              <a:rPr lang="en-US" sz="2175" spc="217">
                <a:solidFill>
                  <a:srgbClr val="000000"/>
                </a:solidFill>
                <a:latin typeface="Open Sauce"/>
                <a:ea typeface="Open Sauce"/>
                <a:cs typeface="Open Sauce"/>
                <a:sym typeface="Open Sauce"/>
              </a:rPr>
              <a:t>Confirms that the neural network can effectively rank applicants by risk.</a:t>
            </a:r>
          </a:p>
          <a:p>
            <a:pPr algn="l" marL="469660" indent="-234830" lvl="1">
              <a:lnSpc>
                <a:spcPts val="2610"/>
              </a:lnSpc>
              <a:buFont typeface="Arial"/>
              <a:buChar char="•"/>
            </a:pPr>
            <a:r>
              <a:rPr lang="en-US" sz="2175" spc="217">
                <a:solidFill>
                  <a:srgbClr val="000000"/>
                </a:solidFill>
                <a:latin typeface="Open Sauce"/>
                <a:ea typeface="Open Sauce"/>
                <a:cs typeface="Open Sauce"/>
                <a:sym typeface="Open Sauce"/>
              </a:rPr>
              <a:t>Supports its potential for real-world credit decisioning.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B48AB"/>
        </a:solidFill>
      </p:bgPr>
    </p:bg>
    <p:spTree>
      <p:nvGrpSpPr>
        <p:cNvPr id="1" name=""/>
        <p:cNvGrpSpPr/>
        <p:nvPr/>
      </p:nvGrpSpPr>
      <p:grpSpPr>
        <a:xfrm>
          <a:off x="0" y="0"/>
          <a:ext cx="0" cy="0"/>
          <a:chOff x="0" y="0"/>
          <a:chExt cx="0" cy="0"/>
        </a:xfrm>
      </p:grpSpPr>
      <p:sp>
        <p:nvSpPr>
          <p:cNvPr name="Freeform 2" id="2"/>
          <p:cNvSpPr/>
          <p:nvPr/>
        </p:nvSpPr>
        <p:spPr>
          <a:xfrm flipH="false" flipV="false" rot="0">
            <a:off x="4153218" y="4694448"/>
            <a:ext cx="8889195" cy="5444632"/>
          </a:xfrm>
          <a:custGeom>
            <a:avLst/>
            <a:gdLst/>
            <a:ahLst/>
            <a:cxnLst/>
            <a:rect r="r" b="b" t="t" l="l"/>
            <a:pathLst>
              <a:path h="5444632" w="8889195">
                <a:moveTo>
                  <a:pt x="0" y="0"/>
                </a:moveTo>
                <a:lnTo>
                  <a:pt x="8889195" y="0"/>
                </a:lnTo>
                <a:lnTo>
                  <a:pt x="8889195" y="5444632"/>
                </a:lnTo>
                <a:lnTo>
                  <a:pt x="0" y="5444632"/>
                </a:lnTo>
                <a:lnTo>
                  <a:pt x="0" y="0"/>
                </a:lnTo>
                <a:close/>
              </a:path>
            </a:pathLst>
          </a:custGeom>
          <a:blipFill>
            <a:blip r:embed="rId2"/>
            <a:stretch>
              <a:fillRect l="0" t="0" r="0" b="0"/>
            </a:stretch>
          </a:blipFill>
        </p:spPr>
      </p:sp>
      <p:sp>
        <p:nvSpPr>
          <p:cNvPr name="TextBox 3" id="3"/>
          <p:cNvSpPr txBox="true"/>
          <p:nvPr/>
        </p:nvSpPr>
        <p:spPr>
          <a:xfrm rot="0">
            <a:off x="2459189" y="757974"/>
            <a:ext cx="13003096" cy="531928"/>
          </a:xfrm>
          <a:prstGeom prst="rect">
            <a:avLst/>
          </a:prstGeom>
        </p:spPr>
        <p:txBody>
          <a:bodyPr anchor="t" rtlCol="false" tIns="0" lIns="0" bIns="0" rIns="0">
            <a:spAutoFit/>
          </a:bodyPr>
          <a:lstStyle/>
          <a:p>
            <a:pPr algn="ctr">
              <a:lnSpc>
                <a:spcPts val="4113"/>
              </a:lnSpc>
              <a:spcBef>
                <a:spcPct val="0"/>
              </a:spcBef>
            </a:pPr>
            <a:r>
              <a:rPr lang="en-US" b="true" sz="3427" spc="342">
                <a:solidFill>
                  <a:srgbClr val="FFFFFF"/>
                </a:solidFill>
                <a:latin typeface="Glacial Indifference Bold"/>
                <a:ea typeface="Glacial Indifference Bold"/>
                <a:cs typeface="Glacial Indifference Bold"/>
                <a:sym typeface="Glacial Indifference Bold"/>
              </a:rPr>
              <a:t>Final Model Comparison – XGBoost vs Neural Network</a:t>
            </a:r>
          </a:p>
        </p:txBody>
      </p:sp>
      <p:sp>
        <p:nvSpPr>
          <p:cNvPr name="TextBox 4" id="4"/>
          <p:cNvSpPr txBox="true"/>
          <p:nvPr/>
        </p:nvSpPr>
        <p:spPr>
          <a:xfrm rot="0">
            <a:off x="514350" y="2165227"/>
            <a:ext cx="17259300" cy="2295525"/>
          </a:xfrm>
          <a:prstGeom prst="rect">
            <a:avLst/>
          </a:prstGeom>
        </p:spPr>
        <p:txBody>
          <a:bodyPr anchor="t" rtlCol="false" tIns="0" lIns="0" bIns="0" rIns="0">
            <a:spAutoFit/>
          </a:bodyPr>
          <a:lstStyle/>
          <a:p>
            <a:pPr algn="l" marL="647700" indent="-323850" lvl="1">
              <a:lnSpc>
                <a:spcPts val="3600"/>
              </a:lnSpc>
              <a:buFont typeface="Arial"/>
              <a:buChar char="•"/>
            </a:pPr>
            <a:r>
              <a:rPr lang="en-US" b="true" sz="3000" spc="300">
                <a:solidFill>
                  <a:srgbClr val="FFFFFF"/>
                </a:solidFill>
                <a:latin typeface="Glacial Indifference Bold"/>
                <a:ea typeface="Glacial Indifference Bold"/>
                <a:cs typeface="Glacial Indifference Bold"/>
                <a:sym typeface="Glacial Indifference Bold"/>
              </a:rPr>
              <a:t>We trained and evaluated both models across three datasets: Train, Test1, Test2.</a:t>
            </a:r>
          </a:p>
          <a:p>
            <a:pPr algn="l" marL="647700" indent="-323850" lvl="1">
              <a:lnSpc>
                <a:spcPts val="3600"/>
              </a:lnSpc>
              <a:buFont typeface="Arial"/>
              <a:buChar char="•"/>
            </a:pPr>
            <a:r>
              <a:rPr lang="en-US" b="true" sz="3000" spc="300">
                <a:solidFill>
                  <a:srgbClr val="FFFFFF"/>
                </a:solidFill>
                <a:latin typeface="Glacial Indifference Bold"/>
                <a:ea typeface="Glacial Indifference Bold"/>
                <a:cs typeface="Glacial Indifference Bold"/>
                <a:sym typeface="Glacial Indifference Bold"/>
              </a:rPr>
              <a:t>Used AUC to measure predictive performance and rank ordering plots to evaluate risk stratification.</a:t>
            </a:r>
          </a:p>
          <a:p>
            <a:pPr algn="l" marL="647700" indent="-323850" lvl="1">
              <a:lnSpc>
                <a:spcPts val="3600"/>
              </a:lnSpc>
              <a:buFont typeface="Arial"/>
              <a:buChar char="•"/>
            </a:pPr>
            <a:r>
              <a:rPr lang="en-US" b="true" sz="3000" spc="300">
                <a:solidFill>
                  <a:srgbClr val="FFFFFF"/>
                </a:solidFill>
                <a:latin typeface="Glacial Indifference Bold"/>
                <a:ea typeface="Glacial Indifference Bold"/>
                <a:cs typeface="Glacial Indifference Bold"/>
                <a:sym typeface="Glacial Indifference Bold"/>
              </a:rPr>
              <a:t>Compared models on accuracy, stability, and interpretability.</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5F5EF"/>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485951" y="2226396"/>
          <a:ext cx="15316097" cy="7208943"/>
        </p:xfrm>
        <a:graphic>
          <a:graphicData uri="http://schemas.openxmlformats.org/drawingml/2006/table">
            <a:tbl>
              <a:tblPr/>
              <a:tblGrid>
                <a:gridCol w="1531610"/>
                <a:gridCol w="1531610"/>
                <a:gridCol w="1531610"/>
                <a:gridCol w="1531610"/>
                <a:gridCol w="1531610"/>
                <a:gridCol w="1531610"/>
                <a:gridCol w="1531610"/>
                <a:gridCol w="1531610"/>
                <a:gridCol w="1531610"/>
                <a:gridCol w="1531610"/>
              </a:tblGrid>
              <a:tr h="568653">
                <a:tc>
                  <a:txBody>
                    <a:bodyPr anchor="t" rtlCol="false"/>
                    <a:lstStyle/>
                    <a:p>
                      <a:pPr algn="l">
                        <a:lnSpc>
                          <a:spcPts val="3499"/>
                        </a:lnSpc>
                        <a:defRPr/>
                      </a:pP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gridSpan="3">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Train</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Train</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Train</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gridSpan="3">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1 </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1 </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1 </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gridSpan="3">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Test 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53760">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Threshold</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 Total</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 Default Rate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Revenue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 Total</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Default Rate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Revenue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 Total</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Default Rate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Revenue</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27297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0.0122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498.09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5848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0.0147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105.13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5809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0.0143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104.18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30876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0.0257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641.07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6627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0.0296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140.52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6604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0.0318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135.12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33475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0.0424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754.59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7160</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0.0478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162.54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7194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0.051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158.03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36031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0.0632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864.26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7695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0.0693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182.84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7759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0.0723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182.44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38809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0.0903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983.94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8313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0.0977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464.9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8360</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0.1005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205.73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41766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0.1227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1096.33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8949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0.1313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486.05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8994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0.1313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228.18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44805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0.159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1189.31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9573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0.1652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505.52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9620</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0.1655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247.3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47808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0.1981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1249.04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10206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0.2022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522.08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10279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0.2024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263.87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50642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0.2367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1280.57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10775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0.2369</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530.21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10883</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0.237</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272.66</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568653">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54622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0.2908</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1288.2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11640</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0.2904</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534.75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11750</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0.2905</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499"/>
                        </a:lnSpc>
                        <a:defRPr/>
                      </a:pPr>
                      <a:r>
                        <a:rPr lang="en-US" sz="2499">
                          <a:solidFill>
                            <a:srgbClr val="000000"/>
                          </a:solidFill>
                          <a:latin typeface="Glacial Indifference"/>
                          <a:ea typeface="Glacial Indifference"/>
                          <a:cs typeface="Glacial Indifference"/>
                          <a:sym typeface="Glacial Indifference"/>
                        </a:rPr>
                        <a:t>276.62</a:t>
                      </a:r>
                      <a:endParaRPr lang="en-US" sz="1100"/>
                    </a:p>
                  </a:txBody>
                  <a:tcPr marL="28575" marR="28575" marT="28575" marB="2857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6175792" y="1066800"/>
            <a:ext cx="5936416" cy="720725"/>
          </a:xfrm>
          <a:prstGeom prst="rect">
            <a:avLst/>
          </a:prstGeom>
        </p:spPr>
        <p:txBody>
          <a:bodyPr anchor="t" rtlCol="false" tIns="0" lIns="0" bIns="0" rIns="0">
            <a:spAutoFit/>
          </a:bodyPr>
          <a:lstStyle/>
          <a:p>
            <a:pPr algn="l">
              <a:lnSpc>
                <a:spcPts val="5500"/>
              </a:lnSpc>
            </a:pPr>
            <a:r>
              <a:rPr lang="en-US" sz="5000" b="true">
                <a:solidFill>
                  <a:srgbClr val="000000"/>
                </a:solidFill>
                <a:latin typeface="Glacial Indifference Bold"/>
                <a:ea typeface="Glacial Indifference Bold"/>
                <a:cs typeface="Glacial Indifference Bold"/>
                <a:sym typeface="Glacial Indifference Bold"/>
              </a:rPr>
              <a:t>Strategy Thresholds</a:t>
            </a:r>
          </a:p>
        </p:txBody>
      </p:sp>
      <p:sp>
        <p:nvSpPr>
          <p:cNvPr name="TextBox 4" id="4"/>
          <p:cNvSpPr txBox="true"/>
          <p:nvPr/>
        </p:nvSpPr>
        <p:spPr>
          <a:xfrm rot="0">
            <a:off x="12112208" y="57150"/>
            <a:ext cx="6030292" cy="533400"/>
          </a:xfrm>
          <a:prstGeom prst="rect">
            <a:avLst/>
          </a:prstGeom>
        </p:spPr>
        <p:txBody>
          <a:bodyPr anchor="t" rtlCol="false" tIns="0" lIns="0" bIns="0" rIns="0">
            <a:spAutoFit/>
          </a:bodyPr>
          <a:lstStyle/>
          <a:p>
            <a:pPr algn="ctr">
              <a:lnSpc>
                <a:spcPts val="2160"/>
              </a:lnSpc>
              <a:spcBef>
                <a:spcPct val="0"/>
              </a:spcBef>
            </a:pPr>
            <a:r>
              <a:rPr lang="en-US" b="true" sz="1800" spc="180">
                <a:solidFill>
                  <a:srgbClr val="000000"/>
                </a:solidFill>
                <a:latin typeface="Glacial Indifference Bold"/>
                <a:ea typeface="Glacial Indifference Bold"/>
                <a:cs typeface="Glacial Indifference Bold"/>
                <a:sym typeface="Glacial Indifference Bold"/>
              </a:rPr>
              <a:t>Revenue per Month=(0.001×S_Ave)+(0.02×B_Ave)</a:t>
            </a:r>
          </a:p>
          <a:p>
            <a:pPr algn="ctr">
              <a:lnSpc>
                <a:spcPts val="2160"/>
              </a:lnSpc>
              <a:spcBef>
                <a:spcPct val="0"/>
              </a:spcBef>
            </a:pPr>
            <a:r>
              <a:rPr lang="en-US" b="true" sz="1800" spc="180">
                <a:solidFill>
                  <a:srgbClr val="000000"/>
                </a:solidFill>
                <a:latin typeface="Glacial Indifference Bold"/>
                <a:ea typeface="Glacial Indifference Bold"/>
                <a:cs typeface="Glacial Indifference Bold"/>
                <a:sym typeface="Glacial Indifference Bold"/>
              </a:rPr>
              <a:t>Expected Revenue=12×Revenue per Month</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D3D3D"/>
        </a:solidFill>
      </p:bgPr>
    </p:bg>
    <p:spTree>
      <p:nvGrpSpPr>
        <p:cNvPr id="1" name=""/>
        <p:cNvGrpSpPr/>
        <p:nvPr/>
      </p:nvGrpSpPr>
      <p:grpSpPr>
        <a:xfrm>
          <a:off x="0" y="0"/>
          <a:ext cx="0" cy="0"/>
          <a:chOff x="0" y="0"/>
          <a:chExt cx="0" cy="0"/>
        </a:xfrm>
      </p:grpSpPr>
      <p:grpSp>
        <p:nvGrpSpPr>
          <p:cNvPr name="Group 2" id="2"/>
          <p:cNvGrpSpPr/>
          <p:nvPr/>
        </p:nvGrpSpPr>
        <p:grpSpPr>
          <a:xfrm rot="0">
            <a:off x="13925691" y="488891"/>
            <a:ext cx="390637" cy="390637"/>
            <a:chOff x="0" y="0"/>
            <a:chExt cx="520850" cy="520850"/>
          </a:xfrm>
        </p:grpSpPr>
        <p:grpSp>
          <p:nvGrpSpPr>
            <p:cNvPr name="Group 3" id="3"/>
            <p:cNvGrpSpPr>
              <a:grpSpLocks noChangeAspect="true"/>
            </p:cNvGrpSpPr>
            <p:nvPr/>
          </p:nvGrpSpPr>
          <p:grpSpPr>
            <a:xfrm rot="0">
              <a:off x="0" y="0"/>
              <a:ext cx="520850" cy="520850"/>
              <a:chOff x="0" y="0"/>
              <a:chExt cx="6355080" cy="6355080"/>
            </a:xfrm>
          </p:grpSpPr>
          <p:sp>
            <p:nvSpPr>
              <p:cNvPr name="Freeform 4" id="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0000"/>
              </a:solidFill>
            </p:spPr>
          </p:sp>
        </p:grpSp>
        <p:sp>
          <p:nvSpPr>
            <p:cNvPr name="Freeform 5" id="5"/>
            <p:cNvSpPr/>
            <p:nvPr/>
          </p:nvSpPr>
          <p:spPr>
            <a:xfrm flipH="false" flipV="false" rot="5400000">
              <a:off x="86808" y="86808"/>
              <a:ext cx="347233" cy="347233"/>
            </a:xfrm>
            <a:custGeom>
              <a:avLst/>
              <a:gdLst/>
              <a:ahLst/>
              <a:cxnLst/>
              <a:rect r="r" b="b" t="t" l="l"/>
              <a:pathLst>
                <a:path h="347233" w="347233">
                  <a:moveTo>
                    <a:pt x="0" y="0"/>
                  </a:moveTo>
                  <a:lnTo>
                    <a:pt x="347234" y="0"/>
                  </a:lnTo>
                  <a:lnTo>
                    <a:pt x="347234" y="347234"/>
                  </a:lnTo>
                  <a:lnTo>
                    <a:pt x="0" y="347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3644934" y="3903800"/>
            <a:ext cx="593385" cy="233211"/>
            <a:chOff x="0" y="0"/>
            <a:chExt cx="791180" cy="310948"/>
          </a:xfrm>
        </p:grpSpPr>
        <p:sp>
          <p:nvSpPr>
            <p:cNvPr name="TextBox 7" id="7"/>
            <p:cNvSpPr txBox="true"/>
            <p:nvPr/>
          </p:nvSpPr>
          <p:spPr>
            <a:xfrm rot="0">
              <a:off x="312026" y="0"/>
              <a:ext cx="479154" cy="310948"/>
            </a:xfrm>
            <a:prstGeom prst="rect">
              <a:avLst/>
            </a:prstGeom>
          </p:spPr>
          <p:txBody>
            <a:bodyPr anchor="t" rtlCol="false" tIns="0" lIns="0" bIns="0" rIns="0">
              <a:spAutoFit/>
            </a:bodyPr>
            <a:lstStyle/>
            <a:p>
              <a:pPr algn="r">
                <a:lnSpc>
                  <a:spcPts val="1899"/>
                </a:lnSpc>
              </a:pPr>
              <a:r>
                <a:rPr lang="en-US" b="true" sz="1583" spc="158">
                  <a:solidFill>
                    <a:srgbClr val="000000"/>
                  </a:solidFill>
                  <a:latin typeface="Glacial Indifference Bold"/>
                  <a:ea typeface="Glacial Indifference Bold"/>
                  <a:cs typeface="Glacial Indifference Bold"/>
                  <a:sym typeface="Glacial Indifference Bold"/>
                </a:rPr>
                <a:t>04</a:t>
              </a:r>
            </a:p>
          </p:txBody>
        </p:sp>
        <p:sp>
          <p:nvSpPr>
            <p:cNvPr name="AutoShape 8" id="8"/>
            <p:cNvSpPr/>
            <p:nvPr/>
          </p:nvSpPr>
          <p:spPr>
            <a:xfrm rot="-5400000">
              <a:off x="153689" y="-12918"/>
              <a:ext cx="34810" cy="342188"/>
            </a:xfrm>
            <a:prstGeom prst="rect">
              <a:avLst/>
            </a:prstGeom>
            <a:solidFill>
              <a:srgbClr val="000000"/>
            </a:solidFill>
          </p:spPr>
        </p:sp>
      </p:grpSp>
      <p:sp>
        <p:nvSpPr>
          <p:cNvPr name="Freeform 9" id="9"/>
          <p:cNvSpPr/>
          <p:nvPr/>
        </p:nvSpPr>
        <p:spPr>
          <a:xfrm flipH="false" flipV="false" rot="0">
            <a:off x="1028700" y="595053"/>
            <a:ext cx="6591953" cy="4548447"/>
          </a:xfrm>
          <a:custGeom>
            <a:avLst/>
            <a:gdLst/>
            <a:ahLst/>
            <a:cxnLst/>
            <a:rect r="r" b="b" t="t" l="l"/>
            <a:pathLst>
              <a:path h="4548447" w="6591953">
                <a:moveTo>
                  <a:pt x="0" y="0"/>
                </a:moveTo>
                <a:lnTo>
                  <a:pt x="6591953" y="0"/>
                </a:lnTo>
                <a:lnTo>
                  <a:pt x="6591953" y="4548447"/>
                </a:lnTo>
                <a:lnTo>
                  <a:pt x="0" y="4548447"/>
                </a:lnTo>
                <a:lnTo>
                  <a:pt x="0" y="0"/>
                </a:lnTo>
                <a:close/>
              </a:path>
            </a:pathLst>
          </a:custGeom>
          <a:blipFill>
            <a:blip r:embed="rId4"/>
            <a:stretch>
              <a:fillRect l="0" t="0" r="0" b="0"/>
            </a:stretch>
          </a:blipFill>
        </p:spPr>
      </p:sp>
      <p:sp>
        <p:nvSpPr>
          <p:cNvPr name="Freeform 10" id="10"/>
          <p:cNvSpPr/>
          <p:nvPr/>
        </p:nvSpPr>
        <p:spPr>
          <a:xfrm flipH="false" flipV="false" rot="0">
            <a:off x="10348958" y="488891"/>
            <a:ext cx="6591953" cy="4603687"/>
          </a:xfrm>
          <a:custGeom>
            <a:avLst/>
            <a:gdLst/>
            <a:ahLst/>
            <a:cxnLst/>
            <a:rect r="r" b="b" t="t" l="l"/>
            <a:pathLst>
              <a:path h="4603687" w="6591953">
                <a:moveTo>
                  <a:pt x="0" y="0"/>
                </a:moveTo>
                <a:lnTo>
                  <a:pt x="6591953" y="0"/>
                </a:lnTo>
                <a:lnTo>
                  <a:pt x="6591953" y="4603687"/>
                </a:lnTo>
                <a:lnTo>
                  <a:pt x="0" y="4603687"/>
                </a:lnTo>
                <a:lnTo>
                  <a:pt x="0" y="0"/>
                </a:lnTo>
                <a:close/>
              </a:path>
            </a:pathLst>
          </a:custGeom>
          <a:blipFill>
            <a:blip r:embed="rId5"/>
            <a:stretch>
              <a:fillRect l="-2215" t="0" r="-2215" b="0"/>
            </a:stretch>
          </a:blipFill>
        </p:spPr>
      </p:sp>
      <p:sp>
        <p:nvSpPr>
          <p:cNvPr name="Freeform 11" id="11"/>
          <p:cNvSpPr/>
          <p:nvPr/>
        </p:nvSpPr>
        <p:spPr>
          <a:xfrm flipH="false" flipV="false" rot="0">
            <a:off x="5797287" y="5429917"/>
            <a:ext cx="6693426" cy="4651931"/>
          </a:xfrm>
          <a:custGeom>
            <a:avLst/>
            <a:gdLst/>
            <a:ahLst/>
            <a:cxnLst/>
            <a:rect r="r" b="b" t="t" l="l"/>
            <a:pathLst>
              <a:path h="4651931" w="6693426">
                <a:moveTo>
                  <a:pt x="0" y="0"/>
                </a:moveTo>
                <a:lnTo>
                  <a:pt x="6693426" y="0"/>
                </a:lnTo>
                <a:lnTo>
                  <a:pt x="6693426" y="4651931"/>
                </a:lnTo>
                <a:lnTo>
                  <a:pt x="0" y="4651931"/>
                </a:lnTo>
                <a:lnTo>
                  <a:pt x="0" y="0"/>
                </a:lnTo>
                <a:close/>
              </a:path>
            </a:pathLst>
          </a:custGeom>
          <a:blipFill>
            <a:blip r:embed="rId6"/>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0" y="7746447"/>
            <a:ext cx="2796644" cy="2384775"/>
          </a:xfrm>
          <a:custGeom>
            <a:avLst/>
            <a:gdLst/>
            <a:ahLst/>
            <a:cxnLst/>
            <a:rect r="r" b="b" t="t" l="l"/>
            <a:pathLst>
              <a:path h="2384775" w="2796644">
                <a:moveTo>
                  <a:pt x="0" y="0"/>
                </a:moveTo>
                <a:lnTo>
                  <a:pt x="2796644" y="0"/>
                </a:lnTo>
                <a:lnTo>
                  <a:pt x="2796644" y="2384775"/>
                </a:lnTo>
                <a:lnTo>
                  <a:pt x="0" y="23847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3649765" y="5143500"/>
          <a:ext cx="12500035" cy="3653790"/>
        </p:xfrm>
        <a:graphic>
          <a:graphicData uri="http://schemas.openxmlformats.org/drawingml/2006/table">
            <a:tbl>
              <a:tblPr/>
              <a:tblGrid>
                <a:gridCol w="6000607"/>
                <a:gridCol w="6499428"/>
              </a:tblGrid>
              <a:tr h="864007">
                <a:tc>
                  <a:txBody>
                    <a:bodyPr anchor="t" rtlCol="false"/>
                    <a:lstStyle/>
                    <a:p>
                      <a:pPr algn="ctr">
                        <a:lnSpc>
                          <a:spcPts val="3359"/>
                        </a:lnSpc>
                        <a:defRPr/>
                      </a:pPr>
                      <a:r>
                        <a:rPr lang="en-US" sz="2399" b="true">
                          <a:solidFill>
                            <a:srgbClr val="ED3D3D"/>
                          </a:solidFill>
                          <a:latin typeface="Open Sauce Bold"/>
                          <a:ea typeface="Open Sauce Bold"/>
                          <a:cs typeface="Open Sauce Bold"/>
                          <a:sym typeface="Open Sauce Bold"/>
                        </a:rPr>
                        <a:t>Conservative Strategy </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359"/>
                        </a:lnSpc>
                        <a:defRPr/>
                      </a:pPr>
                      <a:r>
                        <a:rPr lang="en-US" sz="2399" b="true">
                          <a:solidFill>
                            <a:srgbClr val="ED3D3D"/>
                          </a:solidFill>
                          <a:latin typeface="Open Sauce Bold"/>
                          <a:ea typeface="Open Sauce Bold"/>
                          <a:cs typeface="Open Sauce Bold"/>
                          <a:sym typeface="Open Sauce Bold"/>
                        </a:rPr>
                        <a:t>Aggressive Strategy </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23687">
                <a:tc>
                  <a:txBody>
                    <a:bodyPr anchor="t" rtlCol="false"/>
                    <a:lstStyle/>
                    <a:p>
                      <a:pPr algn="l">
                        <a:lnSpc>
                          <a:spcPts val="2799"/>
                        </a:lnSpc>
                        <a:defRPr/>
                      </a:pPr>
                      <a:r>
                        <a:rPr lang="en-US" sz="1999">
                          <a:solidFill>
                            <a:srgbClr val="000000"/>
                          </a:solidFill>
                          <a:latin typeface="Open Sauce"/>
                          <a:ea typeface="Open Sauce"/>
                          <a:cs typeface="Open Sauce"/>
                          <a:sym typeface="Open Sauce"/>
                        </a:rPr>
                        <a:t>Threshold: 0.10</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Open Sauce"/>
                          <a:ea typeface="Open Sauce"/>
                          <a:cs typeface="Open Sauce"/>
                          <a:sym typeface="Open Sauce"/>
                        </a:rPr>
                        <a:t>Threshold: 0.50</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142409">
                <a:tc>
                  <a:txBody>
                    <a:bodyPr anchor="t" rtlCol="false"/>
                    <a:lstStyle/>
                    <a:p>
                      <a:pPr algn="l">
                        <a:lnSpc>
                          <a:spcPts val="2799"/>
                        </a:lnSpc>
                        <a:defRPr/>
                      </a:pPr>
                      <a:r>
                        <a:rPr lang="en-US" sz="1999">
                          <a:solidFill>
                            <a:srgbClr val="000000"/>
                          </a:solidFill>
                          <a:latin typeface="Open Sauce"/>
                          <a:ea typeface="Open Sauce"/>
                          <a:cs typeface="Open Sauce"/>
                          <a:sym typeface="Open Sauce"/>
                        </a:rPr>
                        <a:t>Default Rate: ~1% across all sets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Open Sauce"/>
                          <a:ea typeface="Open Sauce"/>
                          <a:cs typeface="Open Sauce"/>
                          <a:sym typeface="Open Sauce"/>
                        </a:rPr>
                        <a:t>Default Rate: • Train: ~9.0% • Test1: ~9.1% • Test2: ~9.3%</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23687">
                <a:tc>
                  <a:txBody>
                    <a:bodyPr anchor="t" rtlCol="false"/>
                    <a:lstStyle/>
                    <a:p>
                      <a:pPr algn="l">
                        <a:lnSpc>
                          <a:spcPts val="2799"/>
                        </a:lnSpc>
                        <a:defRPr/>
                      </a:pPr>
                      <a:r>
                        <a:rPr lang="en-US" sz="1999">
                          <a:solidFill>
                            <a:srgbClr val="000000"/>
                          </a:solidFill>
                          <a:latin typeface="Open Sauce"/>
                          <a:ea typeface="Open Sauce"/>
                          <a:cs typeface="Open Sauce"/>
                          <a:sym typeface="Open Sauce"/>
                        </a:rPr>
                        <a:t>Revenue: Modest but safe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Open Sauce"/>
                          <a:ea typeface="Open Sauce"/>
                          <a:cs typeface="Open Sauce"/>
                          <a:sym typeface="Open Sauce"/>
                        </a:rPr>
                        <a:t>Revenue: Highest while staying under 10% cap</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4192488" y="772452"/>
            <a:ext cx="9903023" cy="466725"/>
          </a:xfrm>
          <a:prstGeom prst="rect">
            <a:avLst/>
          </a:prstGeom>
        </p:spPr>
        <p:txBody>
          <a:bodyPr anchor="t" rtlCol="false" tIns="0" lIns="0" bIns="0" rIns="0">
            <a:spAutoFit/>
          </a:bodyPr>
          <a:lstStyle/>
          <a:p>
            <a:pPr algn="ctr">
              <a:lnSpc>
                <a:spcPts val="3600"/>
              </a:lnSpc>
              <a:spcBef>
                <a:spcPct val="0"/>
              </a:spcBef>
            </a:pPr>
            <a:r>
              <a:rPr lang="en-US" b="true" sz="3000" spc="300">
                <a:solidFill>
                  <a:srgbClr val="000000"/>
                </a:solidFill>
                <a:latin typeface="Glacial Indifference Bold"/>
                <a:ea typeface="Glacial Indifference Bold"/>
                <a:cs typeface="Glacial Indifference Bold"/>
                <a:sym typeface="Glacial Indifference Bold"/>
              </a:rPr>
              <a:t>Credit Strategy – Threshold-Based Decisioning</a:t>
            </a:r>
          </a:p>
        </p:txBody>
      </p:sp>
      <p:sp>
        <p:nvSpPr>
          <p:cNvPr name="TextBox 5" id="5"/>
          <p:cNvSpPr txBox="true"/>
          <p:nvPr/>
        </p:nvSpPr>
        <p:spPr>
          <a:xfrm rot="0">
            <a:off x="1028700" y="1569757"/>
            <a:ext cx="16344528" cy="2971800"/>
          </a:xfrm>
          <a:prstGeom prst="rect">
            <a:avLst/>
          </a:prstGeom>
        </p:spPr>
        <p:txBody>
          <a:bodyPr anchor="t" rtlCol="false" tIns="0" lIns="0" bIns="0" rIns="0">
            <a:spAutoFit/>
          </a:bodyPr>
          <a:lstStyle/>
          <a:p>
            <a:pPr algn="l">
              <a:lnSpc>
                <a:spcPts val="2999"/>
              </a:lnSpc>
              <a:spcBef>
                <a:spcPct val="0"/>
              </a:spcBef>
            </a:pPr>
            <a:r>
              <a:rPr lang="en-US" sz="2499" spc="249">
                <a:solidFill>
                  <a:srgbClr val="000000"/>
                </a:solidFill>
                <a:latin typeface="Glacial Indifference"/>
                <a:ea typeface="Glacial Indifference"/>
                <a:cs typeface="Glacial Indifference"/>
                <a:sym typeface="Glacial Indifference"/>
              </a:rPr>
              <a:t>We used the final model’s predicted probability of default (PD) to define two approval strategies:</a:t>
            </a:r>
          </a:p>
          <a:p>
            <a:pPr algn="l" marL="539749" indent="-269875" lvl="1">
              <a:lnSpc>
                <a:spcPts val="2999"/>
              </a:lnSpc>
              <a:buFont typeface="Arial"/>
              <a:buChar char="•"/>
            </a:pPr>
            <a:r>
              <a:rPr lang="en-US" sz="2499" spc="249">
                <a:solidFill>
                  <a:srgbClr val="000000"/>
                </a:solidFill>
                <a:latin typeface="Glacial Indifference"/>
                <a:ea typeface="Glacial Indifference"/>
                <a:cs typeface="Glacial Indifference"/>
                <a:sym typeface="Glacial Indifference"/>
              </a:rPr>
              <a:t>Conservative: Lower risk tolerance, stricter approval threshold.</a:t>
            </a:r>
          </a:p>
          <a:p>
            <a:pPr algn="l" marL="539749" indent="-269875" lvl="1">
              <a:lnSpc>
                <a:spcPts val="2999"/>
              </a:lnSpc>
              <a:buFont typeface="Arial"/>
              <a:buChar char="•"/>
            </a:pPr>
            <a:r>
              <a:rPr lang="en-US" sz="2499" spc="249">
                <a:solidFill>
                  <a:srgbClr val="000000"/>
                </a:solidFill>
                <a:latin typeface="Glacial Indifference"/>
                <a:ea typeface="Glacial Indifference"/>
                <a:cs typeface="Glacial Indifference"/>
                <a:sym typeface="Glacial Indifference"/>
              </a:rPr>
              <a:t>Aggressive: Higher acceptance rate, slightly increased risk.</a:t>
            </a:r>
          </a:p>
          <a:p>
            <a:pPr algn="l">
              <a:lnSpc>
                <a:spcPts val="2999"/>
              </a:lnSpc>
            </a:pPr>
          </a:p>
          <a:p>
            <a:pPr algn="l">
              <a:lnSpc>
                <a:spcPts val="2999"/>
              </a:lnSpc>
              <a:spcBef>
                <a:spcPct val="0"/>
              </a:spcBef>
            </a:pPr>
            <a:r>
              <a:rPr lang="en-US" sz="2499" spc="249">
                <a:solidFill>
                  <a:srgbClr val="000000"/>
                </a:solidFill>
                <a:latin typeface="Glacial Indifference"/>
                <a:ea typeface="Glacial Indifference"/>
                <a:cs typeface="Glacial Indifference"/>
                <a:sym typeface="Glacial Indifference"/>
              </a:rPr>
              <a:t>Strategy evaluation was based on:</a:t>
            </a:r>
          </a:p>
          <a:p>
            <a:pPr algn="l" marL="539749" indent="-269875" lvl="1">
              <a:lnSpc>
                <a:spcPts val="2999"/>
              </a:lnSpc>
              <a:buFont typeface="Arial"/>
              <a:buChar char="•"/>
            </a:pPr>
            <a:r>
              <a:rPr lang="en-US" sz="2499" spc="249">
                <a:solidFill>
                  <a:srgbClr val="000000"/>
                </a:solidFill>
                <a:latin typeface="Glacial Indifference"/>
                <a:ea typeface="Glacial Indifference"/>
                <a:cs typeface="Glacial Indifference"/>
                <a:sym typeface="Glacial Indifference"/>
              </a:rPr>
              <a:t>Portfolio Default Rate</a:t>
            </a:r>
          </a:p>
          <a:p>
            <a:pPr algn="l" marL="539749" indent="-269875" lvl="1">
              <a:lnSpc>
                <a:spcPts val="2999"/>
              </a:lnSpc>
              <a:buFont typeface="Arial"/>
              <a:buChar char="•"/>
            </a:pPr>
            <a:r>
              <a:rPr lang="en-US" sz="2499" spc="249">
                <a:solidFill>
                  <a:srgbClr val="000000"/>
                </a:solidFill>
                <a:latin typeface="Glacial Indifference"/>
                <a:ea typeface="Glacial Indifference"/>
                <a:cs typeface="Glacial Indifference"/>
                <a:sym typeface="Glacial Indifference"/>
              </a:rPr>
              <a:t>Expected Revenue (from spend &amp; balance)</a:t>
            </a:r>
          </a:p>
          <a:p>
            <a:pPr algn="l" marL="539749" indent="-269875" lvl="1">
              <a:lnSpc>
                <a:spcPts val="2999"/>
              </a:lnSpc>
              <a:buFont typeface="Arial"/>
              <a:buChar char="•"/>
            </a:pPr>
            <a:r>
              <a:rPr lang="en-US" sz="2499" spc="249">
                <a:solidFill>
                  <a:srgbClr val="000000"/>
                </a:solidFill>
                <a:latin typeface="Glacial Indifference"/>
                <a:ea typeface="Glacial Indifference"/>
                <a:cs typeface="Glacial Indifference"/>
                <a:sym typeface="Glacial Indifference"/>
              </a:rPr>
              <a:t>Business constraint: Default rate must stay below 10%</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FFDF2B"/>
        </a:solidFill>
      </p:bgPr>
    </p:bg>
    <p:spTree>
      <p:nvGrpSpPr>
        <p:cNvPr id="1" name=""/>
        <p:cNvGrpSpPr/>
        <p:nvPr/>
      </p:nvGrpSpPr>
      <p:grpSpPr>
        <a:xfrm>
          <a:off x="0" y="0"/>
          <a:ext cx="0" cy="0"/>
          <a:chOff x="0" y="0"/>
          <a:chExt cx="0" cy="0"/>
        </a:xfrm>
      </p:grpSpPr>
      <p:grpSp>
        <p:nvGrpSpPr>
          <p:cNvPr name="Group 2" id="2"/>
          <p:cNvGrpSpPr/>
          <p:nvPr/>
        </p:nvGrpSpPr>
        <p:grpSpPr>
          <a:xfrm rot="0">
            <a:off x="8352994" y="-157809"/>
            <a:ext cx="10030256" cy="10621413"/>
            <a:chOff x="0" y="0"/>
            <a:chExt cx="3392951" cy="3592923"/>
          </a:xfrm>
        </p:grpSpPr>
        <p:sp>
          <p:nvSpPr>
            <p:cNvPr name="Freeform 3" id="3"/>
            <p:cNvSpPr/>
            <p:nvPr/>
          </p:nvSpPr>
          <p:spPr>
            <a:xfrm flipH="false" flipV="false" rot="0">
              <a:off x="0" y="0"/>
              <a:ext cx="3392951" cy="3592923"/>
            </a:xfrm>
            <a:custGeom>
              <a:avLst/>
              <a:gdLst/>
              <a:ahLst/>
              <a:cxnLst/>
              <a:rect r="r" b="b" t="t" l="l"/>
              <a:pathLst>
                <a:path h="3592923" w="3392951">
                  <a:moveTo>
                    <a:pt x="0" y="0"/>
                  </a:moveTo>
                  <a:lnTo>
                    <a:pt x="3392951" y="0"/>
                  </a:lnTo>
                  <a:lnTo>
                    <a:pt x="3392951" y="3592923"/>
                  </a:lnTo>
                  <a:lnTo>
                    <a:pt x="0" y="3592923"/>
                  </a:lnTo>
                  <a:close/>
                </a:path>
              </a:pathLst>
            </a:custGeom>
            <a:solidFill>
              <a:srgbClr val="F5F5EF"/>
            </a:solidFill>
          </p:spPr>
        </p:sp>
      </p:grpSp>
      <p:sp>
        <p:nvSpPr>
          <p:cNvPr name="TextBox 4" id="4"/>
          <p:cNvSpPr txBox="true"/>
          <p:nvPr/>
        </p:nvSpPr>
        <p:spPr>
          <a:xfrm rot="0">
            <a:off x="263824" y="3713227"/>
            <a:ext cx="7806891" cy="2917697"/>
          </a:xfrm>
          <a:prstGeom prst="rect">
            <a:avLst/>
          </a:prstGeom>
        </p:spPr>
        <p:txBody>
          <a:bodyPr anchor="t" rtlCol="false" tIns="0" lIns="0" bIns="0" rIns="0">
            <a:spAutoFit/>
          </a:bodyPr>
          <a:lstStyle/>
          <a:p>
            <a:pPr algn="l">
              <a:lnSpc>
                <a:spcPts val="7700"/>
              </a:lnSpc>
            </a:pPr>
            <a:r>
              <a:rPr lang="en-US" sz="7000">
                <a:solidFill>
                  <a:srgbClr val="000000"/>
                </a:solidFill>
                <a:latin typeface="Glacial Indifference"/>
                <a:ea typeface="Glacial Indifference"/>
                <a:cs typeface="Glacial Indifference"/>
                <a:sym typeface="Glacial Indifference"/>
              </a:rPr>
              <a:t>Final Recommendation to Management</a:t>
            </a:r>
          </a:p>
        </p:txBody>
      </p:sp>
      <p:sp>
        <p:nvSpPr>
          <p:cNvPr name="TextBox 5" id="5"/>
          <p:cNvSpPr txBox="true"/>
          <p:nvPr/>
        </p:nvSpPr>
        <p:spPr>
          <a:xfrm rot="0">
            <a:off x="8955964" y="1247775"/>
            <a:ext cx="8824316" cy="8239125"/>
          </a:xfrm>
          <a:prstGeom prst="rect">
            <a:avLst/>
          </a:prstGeom>
        </p:spPr>
        <p:txBody>
          <a:bodyPr anchor="t" rtlCol="false" tIns="0" lIns="0" bIns="0" rIns="0">
            <a:spAutoFit/>
          </a:bodyPr>
          <a:lstStyle/>
          <a:p>
            <a:pPr algn="l">
              <a:lnSpc>
                <a:spcPts val="3600"/>
              </a:lnSpc>
            </a:pPr>
            <a:r>
              <a:rPr lang="en-US" sz="3000" spc="300" b="true">
                <a:solidFill>
                  <a:srgbClr val="000000"/>
                </a:solidFill>
                <a:latin typeface="Open Sauce Bold"/>
                <a:ea typeface="Open Sauce Bold"/>
                <a:cs typeface="Open Sauce Bold"/>
                <a:sym typeface="Open Sauce Bold"/>
              </a:rPr>
              <a:t>Recommendation: Balanced Strategy (Threshold = 0.40)</a:t>
            </a:r>
          </a:p>
          <a:p>
            <a:pPr algn="l">
              <a:lnSpc>
                <a:spcPts val="3600"/>
              </a:lnSpc>
            </a:pPr>
          </a:p>
          <a:p>
            <a:pPr algn="l">
              <a:lnSpc>
                <a:spcPts val="3600"/>
              </a:lnSpc>
            </a:pPr>
            <a:r>
              <a:rPr lang="en-US" sz="3000" spc="300">
                <a:solidFill>
                  <a:srgbClr val="000000"/>
                </a:solidFill>
                <a:latin typeface="Open Sauce"/>
                <a:ea typeface="Open Sauce"/>
                <a:cs typeface="Open Sauce"/>
                <a:sym typeface="Open Sauce"/>
              </a:rPr>
              <a:t>Generates ~73% higher revenue compared to the conservative strategy.</a:t>
            </a:r>
          </a:p>
          <a:p>
            <a:pPr algn="l">
              <a:lnSpc>
                <a:spcPts val="3600"/>
              </a:lnSpc>
            </a:pPr>
            <a:r>
              <a:rPr lang="en-US" sz="3000" spc="300">
                <a:solidFill>
                  <a:srgbClr val="000000"/>
                </a:solidFill>
                <a:latin typeface="Open Sauce"/>
                <a:ea typeface="Open Sauce"/>
                <a:cs typeface="Open Sauce"/>
                <a:sym typeface="Open Sauce"/>
              </a:rPr>
              <a:t>Keeps default rate safely around 6–7%, well below the 10% business risk cap.</a:t>
            </a:r>
          </a:p>
          <a:p>
            <a:pPr algn="l">
              <a:lnSpc>
                <a:spcPts val="3600"/>
              </a:lnSpc>
            </a:pPr>
          </a:p>
          <a:p>
            <a:pPr algn="l">
              <a:lnSpc>
                <a:spcPts val="3600"/>
              </a:lnSpc>
            </a:pPr>
            <a:r>
              <a:rPr lang="en-US" sz="3000" spc="300" b="true">
                <a:solidFill>
                  <a:srgbClr val="000000"/>
                </a:solidFill>
                <a:latin typeface="Open Sauce Bold"/>
                <a:ea typeface="Open Sauce Bold"/>
                <a:cs typeface="Open Sauce Bold"/>
                <a:sym typeface="Open Sauce Bold"/>
              </a:rPr>
              <a:t>Backed by:</a:t>
            </a:r>
          </a:p>
          <a:p>
            <a:pPr algn="l">
              <a:lnSpc>
                <a:spcPts val="3600"/>
              </a:lnSpc>
            </a:pPr>
          </a:p>
          <a:p>
            <a:pPr algn="l" marL="647700" indent="-323850" lvl="1">
              <a:lnSpc>
                <a:spcPts val="3600"/>
              </a:lnSpc>
              <a:buFont typeface="Arial"/>
              <a:buChar char="•"/>
            </a:pPr>
            <a:r>
              <a:rPr lang="en-US" sz="3000" spc="300">
                <a:solidFill>
                  <a:srgbClr val="000000"/>
                </a:solidFill>
                <a:latin typeface="Open Sauce"/>
                <a:ea typeface="Open Sauce"/>
                <a:cs typeface="Open Sauce"/>
                <a:sym typeface="Open Sauce"/>
              </a:rPr>
              <a:t>A robust, interpretable XGBoost model</a:t>
            </a:r>
          </a:p>
          <a:p>
            <a:pPr algn="l" marL="647700" indent="-323850" lvl="1">
              <a:lnSpc>
                <a:spcPts val="3600"/>
              </a:lnSpc>
              <a:buFont typeface="Arial"/>
              <a:buChar char="•"/>
            </a:pPr>
            <a:r>
              <a:rPr lang="en-US" sz="3000" spc="300">
                <a:solidFill>
                  <a:srgbClr val="000000"/>
                </a:solidFill>
                <a:latin typeface="Open Sauce"/>
                <a:ea typeface="Open Sauce"/>
                <a:cs typeface="Open Sauce"/>
                <a:sym typeface="Open Sauce"/>
              </a:rPr>
              <a:t>Comprehensive rank ordering and SHAP-based feature analysis</a:t>
            </a:r>
          </a:p>
          <a:p>
            <a:pPr algn="l">
              <a:lnSpc>
                <a:spcPts val="3600"/>
              </a:lnSpc>
            </a:pPr>
          </a:p>
          <a:p>
            <a:pPr algn="l" marL="647700" indent="-323850" lvl="1">
              <a:lnSpc>
                <a:spcPts val="3600"/>
              </a:lnSpc>
              <a:buFont typeface="Arial"/>
              <a:buChar char="•"/>
            </a:pPr>
            <a:r>
              <a:rPr lang="en-US" sz="3000" spc="300">
                <a:solidFill>
                  <a:srgbClr val="000000"/>
                </a:solidFill>
                <a:latin typeface="Open Sauce"/>
                <a:ea typeface="Open Sauce"/>
                <a:cs typeface="Open Sauce"/>
                <a:sym typeface="Open Sauce"/>
              </a:rPr>
              <a:t>Portfolio-level financial impact estimation, balancing risk and profitability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DAGxYQrdU_Y</dc:identifier>
  <dcterms:modified xsi:type="dcterms:W3CDTF">2011-08-01T06:04:30Z</dcterms:modified>
  <cp:revision>1</cp:revision>
  <dc:title>Copy of Group 17 </dc:title>
</cp:coreProperties>
</file>